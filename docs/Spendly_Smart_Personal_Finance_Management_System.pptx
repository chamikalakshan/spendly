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332e24e7784bf6" /><Relationship Type="http://schemas.openxmlformats.org/officeDocument/2006/relationships/extended-properties" Target="/docProps/app.xml" Id="R32583ef0216845c5" /><Relationship Type="http://schemas.openxmlformats.org/officeDocument/2006/relationships/officeDocument" Target="/ppt/presentation.xml" Id="R0cfffb551cf04e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cddf534a7d42ba"/>
  </p:sldMasterIdLst>
  <p:notesMasterIdLst>
    <p:notesMasterId xmlns:r="http://schemas.openxmlformats.org/officeDocument/2006/relationships" r:id="Re29f063ea6a943a7"/>
  </p:notesMasterIdLst>
  <p:sldIdLst>
    <p:sldId xmlns:r="http://schemas.openxmlformats.org/officeDocument/2006/relationships" id="256" r:id="R753d80e8c7b541af"/>
    <p:sldId xmlns:r="http://schemas.openxmlformats.org/officeDocument/2006/relationships" id="257" r:id="R7985baaedad845b9"/>
    <p:sldId xmlns:r="http://schemas.openxmlformats.org/officeDocument/2006/relationships" id="258" r:id="R59593ee6634f464c"/>
    <p:sldId xmlns:r="http://schemas.openxmlformats.org/officeDocument/2006/relationships" id="259" r:id="Rf64a4711fc8a4ad7"/>
    <p:sldId xmlns:r="http://schemas.openxmlformats.org/officeDocument/2006/relationships" id="260" r:id="Rc85a467e2bdd4bfa"/>
    <p:sldId xmlns:r="http://schemas.openxmlformats.org/officeDocument/2006/relationships" id="261" r:id="R019bf7aebb4943d8"/>
    <p:sldId xmlns:r="http://schemas.openxmlformats.org/officeDocument/2006/relationships" id="262" r:id="R2536c469d71649d1"/>
    <p:sldId xmlns:r="http://schemas.openxmlformats.org/officeDocument/2006/relationships" id="263" r:id="R3a5f6d35a22d4d89"/>
    <p:sldId xmlns:r="http://schemas.openxmlformats.org/officeDocument/2006/relationships" id="264" r:id="R957c5d390b5f4e88"/>
    <p:sldId xmlns:r="http://schemas.openxmlformats.org/officeDocument/2006/relationships" id="265" r:id="R6e9039e01e8b4490"/>
    <p:sldId xmlns:r="http://schemas.openxmlformats.org/officeDocument/2006/relationships" id="266" r:id="R1aecc01d29f84f94"/>
    <p:sldId xmlns:r="http://schemas.openxmlformats.org/officeDocument/2006/relationships" id="267" r:id="R9280da05ada74fec"/>
    <p:sldId xmlns:r="http://schemas.openxmlformats.org/officeDocument/2006/relationships" id="268" r:id="R689d698614374ed4"/>
    <p:sldId xmlns:r="http://schemas.openxmlformats.org/officeDocument/2006/relationships" id="269" r:id="R331fce25a1d044ec"/>
    <p:sldId xmlns:r="http://schemas.openxmlformats.org/officeDocument/2006/relationships" id="270" r:id="R7f23f8b762764562"/>
    <p:sldId xmlns:r="http://schemas.openxmlformats.org/officeDocument/2006/relationships" id="271" r:id="R5f5266c290ae41a1"/>
    <p:sldId xmlns:r="http://schemas.openxmlformats.org/officeDocument/2006/relationships" id="272" r:id="Re802067dd1f74cfb"/>
    <p:sldId xmlns:r="http://schemas.openxmlformats.org/officeDocument/2006/relationships" id="273" r:id="R2c3d885d27664f48"/>
    <p:sldId xmlns:r="http://schemas.openxmlformats.org/officeDocument/2006/relationships" id="274" r:id="R445b88268fbc48f5"/>
    <p:sldId xmlns:r="http://schemas.openxmlformats.org/officeDocument/2006/relationships" id="275" r:id="R7f86cbad6ce34e6c"/>
    <p:sldId xmlns:r="http://schemas.openxmlformats.org/officeDocument/2006/relationships" id="276" r:id="Raf1fdda1b88a4578"/>
    <p:sldId xmlns:r="http://schemas.openxmlformats.org/officeDocument/2006/relationships" id="277" r:id="Rfb1ef629c38c41c9"/>
    <p:sldId xmlns:r="http://schemas.openxmlformats.org/officeDocument/2006/relationships" id="278" r:id="R9dc6c504dc1a4ee3"/>
    <p:sldId xmlns:r="http://schemas.openxmlformats.org/officeDocument/2006/relationships" id="279" r:id="Rf4f9e02068ac4a4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8144e9a4b44b59" /><Relationship Type="http://schemas.openxmlformats.org/officeDocument/2006/relationships/slideMaster" Target="/ppt/slideMasters/slideMaster1.xml" Id="R6bcddf534a7d42ba" /><Relationship Type="http://schemas.openxmlformats.org/officeDocument/2006/relationships/notesMaster" Target="/ppt/notesMasters/notesMaster1.xml" Id="Re29f063ea6a943a7" /><Relationship Type="http://schemas.openxmlformats.org/officeDocument/2006/relationships/presProps" Target="/ppt/presProps.xml" Id="R7bf7b9f8bbe44ea4" /><Relationship Type="http://schemas.openxmlformats.org/officeDocument/2006/relationships/viewProps" Target="/ppt/viewProps.xml" Id="R16eb3ba6fa6a48bb" /><Relationship Type="http://schemas.openxmlformats.org/officeDocument/2006/relationships/tableStyles" Target="/ppt/tableStyles.xml" Id="R9337cf8b75524879" /><Relationship Type="http://schemas.openxmlformats.org/officeDocument/2006/relationships/slide" Target="/ppt/slides/slide1.xml" Id="R753d80e8c7b541af" /><Relationship Type="http://schemas.openxmlformats.org/officeDocument/2006/relationships/slide" Target="/ppt/slides/slide2.xml" Id="R7985baaedad845b9" /><Relationship Type="http://schemas.openxmlformats.org/officeDocument/2006/relationships/slide" Target="/ppt/slides/slide3.xml" Id="R59593ee6634f464c" /><Relationship Type="http://schemas.openxmlformats.org/officeDocument/2006/relationships/slide" Target="/ppt/slides/slide4.xml" Id="Rf64a4711fc8a4ad7" /><Relationship Type="http://schemas.openxmlformats.org/officeDocument/2006/relationships/slide" Target="/ppt/slides/slide5.xml" Id="Rc85a467e2bdd4bfa" /><Relationship Type="http://schemas.openxmlformats.org/officeDocument/2006/relationships/slide" Target="/ppt/slides/slide6.xml" Id="R019bf7aebb4943d8" /><Relationship Type="http://schemas.openxmlformats.org/officeDocument/2006/relationships/slide" Target="/ppt/slides/slide7.xml" Id="R2536c469d71649d1" /><Relationship Type="http://schemas.openxmlformats.org/officeDocument/2006/relationships/slide" Target="/ppt/slides/slide8.xml" Id="R3a5f6d35a22d4d89" /><Relationship Type="http://schemas.openxmlformats.org/officeDocument/2006/relationships/slide" Target="/ppt/slides/slide9.xml" Id="R957c5d390b5f4e88" /><Relationship Type="http://schemas.openxmlformats.org/officeDocument/2006/relationships/slide" Target="/ppt/slides/slide10.xml" Id="R6e9039e01e8b4490" /><Relationship Type="http://schemas.openxmlformats.org/officeDocument/2006/relationships/slide" Target="/ppt/slides/slide11.xml" Id="R1aecc01d29f84f94" /><Relationship Type="http://schemas.openxmlformats.org/officeDocument/2006/relationships/slide" Target="/ppt/slides/slide12.xml" Id="R9280da05ada74fec" /><Relationship Type="http://schemas.openxmlformats.org/officeDocument/2006/relationships/slide" Target="/ppt/slides/slide13.xml" Id="R689d698614374ed4" /><Relationship Type="http://schemas.openxmlformats.org/officeDocument/2006/relationships/slide" Target="/ppt/slides/slide14.xml" Id="R331fce25a1d044ec" /><Relationship Type="http://schemas.openxmlformats.org/officeDocument/2006/relationships/slide" Target="/ppt/slides/slide15.xml" Id="R7f23f8b762764562" /><Relationship Type="http://schemas.openxmlformats.org/officeDocument/2006/relationships/slide" Target="/ppt/slides/slide16.xml" Id="R5f5266c290ae41a1" /><Relationship Type="http://schemas.openxmlformats.org/officeDocument/2006/relationships/slide" Target="/ppt/slides/slide17.xml" Id="Re802067dd1f74cfb" /><Relationship Type="http://schemas.openxmlformats.org/officeDocument/2006/relationships/slide" Target="/ppt/slides/slide18.xml" Id="R2c3d885d27664f48" /><Relationship Type="http://schemas.openxmlformats.org/officeDocument/2006/relationships/slide" Target="/ppt/slides/slide19.xml" Id="R445b88268fbc48f5" /><Relationship Type="http://schemas.openxmlformats.org/officeDocument/2006/relationships/slide" Target="/ppt/slides/slide20.xml" Id="R7f86cbad6ce34e6c" /><Relationship Type="http://schemas.openxmlformats.org/officeDocument/2006/relationships/slide" Target="/ppt/slides/slide21.xml" Id="Raf1fdda1b88a4578" /><Relationship Type="http://schemas.openxmlformats.org/officeDocument/2006/relationships/slide" Target="/ppt/slides/slide22.xml" Id="Rfb1ef629c38c41c9" /><Relationship Type="http://schemas.openxmlformats.org/officeDocument/2006/relationships/slide" Target="/ppt/slides/slide23.xml" Id="R9dc6c504dc1a4ee3" /><Relationship Type="http://schemas.openxmlformats.org/officeDocument/2006/relationships/slide" Target="/ppt/slides/slide24.xml" Id="Rf4f9e02068ac4a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3601cf20c44f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b85afb2d5f4bff" /><Relationship Type="http://schemas.openxmlformats.org/officeDocument/2006/relationships/notesMaster" Target="/ppt/notesMasters/notesMaster1.xml" Id="R426c71d7354140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763df71eba4f21" /><Relationship Type="http://schemas.openxmlformats.org/officeDocument/2006/relationships/notesMaster" Target="/ppt/notesMasters/notesMaster1.xml" Id="Ra8a16dafbceb44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92e0b118d34989" /><Relationship Type="http://schemas.openxmlformats.org/officeDocument/2006/relationships/notesMaster" Target="/ppt/notesMasters/notesMaster1.xml" Id="R5a1e939f11c143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960124f4b147c6" /><Relationship Type="http://schemas.openxmlformats.org/officeDocument/2006/relationships/notesMaster" Target="/ppt/notesMasters/notesMaster1.xml" Id="R512c5543ed2e4c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716a98ce2b4de6" /><Relationship Type="http://schemas.openxmlformats.org/officeDocument/2006/relationships/notesMaster" Target="/ppt/notesMasters/notesMaster1.xml" Id="R422e2340de424b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2c7cd2013d42c4" /><Relationship Type="http://schemas.openxmlformats.org/officeDocument/2006/relationships/notesMaster" Target="/ppt/notesMasters/notesMaster1.xml" Id="R1d4bd14362ea45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e60050ce514ff9" /><Relationship Type="http://schemas.openxmlformats.org/officeDocument/2006/relationships/notesMaster" Target="/ppt/notesMasters/notesMaster1.xml" Id="R4d974546c4f64f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a6815d2bf14e78" /><Relationship Type="http://schemas.openxmlformats.org/officeDocument/2006/relationships/notesMaster" Target="/ppt/notesMasters/notesMaster1.xml" Id="Rd33b1b72b81046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3fce529cf0453c" /><Relationship Type="http://schemas.openxmlformats.org/officeDocument/2006/relationships/notesMaster" Target="/ppt/notesMasters/notesMaster1.xml" Id="R598aa35d465a4c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a284a9da68488f" /><Relationship Type="http://schemas.openxmlformats.org/officeDocument/2006/relationships/notesMaster" Target="/ppt/notesMasters/notesMaster1.xml" Id="R6d7a073a592f4e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3f7190c0ee4677" /><Relationship Type="http://schemas.openxmlformats.org/officeDocument/2006/relationships/notesMaster" Target="/ppt/notesMasters/notesMaster1.xml" Id="R0381a54043014a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57b14efe114284" /><Relationship Type="http://schemas.openxmlformats.org/officeDocument/2006/relationships/notesMaster" Target="/ppt/notesMasters/notesMaster1.xml" Id="Rdd72b46a934a40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5eace6b2a1f4506" /><Relationship Type="http://schemas.openxmlformats.org/officeDocument/2006/relationships/notesMaster" Target="/ppt/notesMasters/notesMaster1.xml" Id="Rb4cb88e4d0df48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ec4d772cc234479" /><Relationship Type="http://schemas.openxmlformats.org/officeDocument/2006/relationships/notesMaster" Target="/ppt/notesMasters/notesMaster1.xml" Id="R4df84a72327342e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748ac5024834259" /><Relationship Type="http://schemas.openxmlformats.org/officeDocument/2006/relationships/notesMaster" Target="/ppt/notesMasters/notesMaster1.xml" Id="R20eaba2fe7bb4ab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d9692a4c0b04692" /><Relationship Type="http://schemas.openxmlformats.org/officeDocument/2006/relationships/notesMaster" Target="/ppt/notesMasters/notesMaster1.xml" Id="R4708a05f95d048e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35a7f9236434930" /><Relationship Type="http://schemas.openxmlformats.org/officeDocument/2006/relationships/notesMaster" Target="/ppt/notesMasters/notesMaster1.xml" Id="R6b751367d115420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670d0663d0f4c5f" /><Relationship Type="http://schemas.openxmlformats.org/officeDocument/2006/relationships/notesMaster" Target="/ppt/notesMasters/notesMaster1.xml" Id="R55797c67fa0e445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b21ca11aeb94d4a" /><Relationship Type="http://schemas.openxmlformats.org/officeDocument/2006/relationships/notesMaster" Target="/ppt/notesMasters/notesMaster1.xml" Id="R06638ae60826459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4c77d309ec04851" /><Relationship Type="http://schemas.openxmlformats.org/officeDocument/2006/relationships/notesMaster" Target="/ppt/notesMasters/notesMaster1.xml" Id="R65ff3be778864a9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7d4a97c689d42b7" /><Relationship Type="http://schemas.openxmlformats.org/officeDocument/2006/relationships/notesMaster" Target="/ppt/notesMasters/notesMaster1.xml" Id="R90f275e54fb9450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92e681c14fb464f" /><Relationship Type="http://schemas.openxmlformats.org/officeDocument/2006/relationships/notesMaster" Target="/ppt/notesMasters/notesMaster1.xml" Id="Ra21a225696474d0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f6a8f21a09542a4" /><Relationship Type="http://schemas.openxmlformats.org/officeDocument/2006/relationships/notesMaster" Target="/ppt/notesMasters/notesMaster1.xml" Id="R5aa62ad946b24ad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e8dab7347944f2f" /><Relationship Type="http://schemas.openxmlformats.org/officeDocument/2006/relationships/notesMaster" Target="/ppt/notesMasters/notesMaster1.xml" Id="Rbd88f2fd955744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Spendly as a smart Android finance tracker built to help users manage income, expenses, goals, and financial insights. Mention that the presentation supports a live demo and focuses on engineering decisions, not only UI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Possible lecturer question and short answer:</a:t>
            </a:r>
          </a:p>
          <a:p xmlns:a="http://schemas.openxmlformats.org/drawingml/2006/main">
            <a:r>
              <a:t>Q: Is this only a UI prototype? A: No. The app includes Firebase Authentication, Firestore cloud storage, Room local database, repositories, ViewModels, Hilt, WorkManager sync, and live data-driven screens.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requirements were derived from the user scenario, not invented as generic finance-app features. The team identified pain points, mapped them to features, and then mapped features into MVVM, Room, Firestore, and sync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Possible lecturer question and short answer:</a:t>
            </a:r>
          </a:p>
          <a:p xmlns:a="http://schemas.openxmlformats.org/drawingml/2006/main">
            <a:r>
              <a:t>Q: How did you derive your requirements? A: We started from the Kavindu finance scenario, identified manual tracking, fragmented income, poor spending awareness, and savings-goal problems, then mapped each issue into functional and non-functional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persona to show why the system needs more than simple income/expense entry. Kavindu has irregular and multi-source income, spending across channels, and a long-term goal that needs regular tracking.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Possible lecturer question and short answer:</a:t>
            </a:r>
          </a:p>
          <a:p xmlns:a="http://schemas.openxmlformats.org/drawingml/2006/main">
            <a:r>
              <a:t>Q: Why did this persona influence your data model? A: Because the app needs income sources, expense categories, payment methods, currency/rate fields, and goal progress fields to represent Kavindu's real financial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slide high-level. Mention that the SRS has full IDs, while this deck shows the main requirements that matter for the demo and discussion.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Possible lecturer question and short answer:</a:t>
            </a:r>
          </a:p>
          <a:p xmlns:a="http://schemas.openxmlformats.org/drawingml/2006/main">
            <a:r>
              <a:t>Q: Which requirement is most technically important? A: Local-first transaction persistence, because it connects UI, ViewModel validation, repository logic, Room, Firestore, and WorkManager sync.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finance apps are judged by trust. The app must be responsive, secure, reliable, and maintainable. Also mention that storing money as Long cents avoids floating-point errors.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Possible lecturer question and short answer:</a:t>
            </a:r>
          </a:p>
          <a:p xmlns:a="http://schemas.openxmlformats.org/drawingml/2006/main">
            <a:r>
              <a:t>Q: Why store money as cents? A: To avoid floating-point precision errors. The database stores values like amountCents, targetCents, and savedCents as Long.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preview the live demo order. Emphasize that each user flow is backed by the architecture shown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Possible lecturer question and short answer:</a:t>
            </a:r>
          </a:p>
          <a:p xmlns:a="http://schemas.openxmlformats.org/drawingml/2006/main">
            <a:r>
              <a:t>Q: What happens after login? A: FinanceViewModel observes the Firebase session, starts immediate sync, and observes profile, transactions, and goals for the current UID.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that these are not decorative choices. Each technology solves a specific project requirement: Compose for UI, StateFlow for reactive state, Room for local persistence, Firestore for cloud sync, Hilt for dependency injection, and WorkManager for background retry.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Possible lecturer question and short answer:</a:t>
            </a:r>
          </a:p>
          <a:p xmlns:a="http://schemas.openxmlformats.org/drawingml/2006/main">
            <a:r>
              <a:t>Q: Why use both Room and Firestore? A: Room gives fast local loading and offline persistence; Firestore gives cross-device cloud storage.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main dependency direction. UI does not directly access Firebase or Room. The ViewModel owns state. Repositories coordinate local and remote data sources.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Possible lecturer question and short answer:</a:t>
            </a:r>
          </a:p>
          <a:p xmlns:a="http://schemas.openxmlformats.org/drawingml/2006/main">
            <a:r>
              <a:t>Q: Where is navigation handled? A: In FinanceTrackerApp.kt using Navigation Compose routes and a shared scaffold/bottom navigation.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an example: Add Income screen sends Save to AddIncomeViewModel; ViewModel validates and calls IncomeRepository; repository saves to Room and uploads to Firestore.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Possible lecturer question and short answer:</a:t>
            </a:r>
          </a:p>
          <a:p xmlns:a="http://schemas.openxmlformats.org/drawingml/2006/main">
            <a:r>
              <a:t>Q: Why use repository interfaces? A: They keep ViewModels independent from concrete Room/Firebase implementations and make the code easier to test and maintain.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reliability. The user should not lose data because of weak network. Room becomes the local source of truth for the UI, while Firestore sync happens immediately or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Possible lecturer question and short answer:</a:t>
            </a:r>
          </a:p>
          <a:p xmlns:a="http://schemas.openxmlformats.org/drawingml/2006/main">
            <a:r>
              <a:t>Q: How does the UI update after saving locally? A: DAOs expose Flow streams. ViewModels collect repository flows and expose StateFlow, so Compose recomposes automatically.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business logic is distributed to screen-specific ViewModels. Analytics calculations, transaction grouping, form validation, and goal validation are not placed directly in Composables.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Possible lecturer question and short answer:</a:t>
            </a:r>
          </a:p>
          <a:p xmlns:a="http://schemas.openxmlformats.org/drawingml/2006/main">
            <a:r>
              <a:t>Q: Which ViewModel handles dashboard state? A: FinanceViewModel combines profile, transactions, and goals into FinanceUiState for dashboard/profile-related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important fields: amountCents, dateMillis, updatedAtMillis, isSynced, goalId, themeMode, and categorySettingsJson. Also mention non-destructive migrations up to version 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Possible lecturer question and short answer:</a:t>
            </a:r>
          </a:p>
          <a:p xmlns:a="http://schemas.openxmlformats.org/drawingml/2006/main">
            <a:r>
              <a:t>Q: What does isSynced do? A: It marks whether a local row has been successfully written to Firestore.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Firestore collections are created automatically when documents are written. Also be honest: the repository uses these paths, while the current firestore.rules file appears older and should be updated to fully match the current schema.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Possible lecturer question and short answer:</a:t>
            </a:r>
          </a:p>
          <a:p xmlns:a="http://schemas.openxmlformats.org/drawingml/2006/main">
            <a:r>
              <a:t>Q: Do we manually create Firestore collections? A: No. Firestore creates collections when the app writes the first document.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WorkManager is used because sync should be reliable and constraint-aware. The worker runs repository sync functions and retries failures up to configured attempts.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Possible lecturer question and short answer:</a:t>
            </a:r>
          </a:p>
          <a:p xmlns:a="http://schemas.openxmlformats.org/drawingml/2006/main">
            <a:r>
              <a:t>Q: Why not just sync from the screen? A: Screens can trigger immediate writes, but WorkManager handles delayed retry when network becomes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Dashboard uses profile, transactions, and goals from FinanceUiState. Profile updates go through FinanceViewModel to UserRepositoryImpl, then Room and Firestore.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Possible lecturer question and short answer:</a:t>
            </a:r>
          </a:p>
          <a:p xmlns:a="http://schemas.openxmlformats.org/drawingml/2006/main">
            <a:r>
              <a:t>Q: Does Dashboard query Firestore directly? A: No. Dashboard reads ViewModel state derived from repository flows.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that income and expense are separate Room tables and Firestore subcollections, but they are combined into FinanceTransaction rows for display.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Possible lecturer question and short answer:</a:t>
            </a:r>
          </a:p>
          <a:p xmlns:a="http://schemas.openxmlformats.org/drawingml/2006/main">
            <a:r>
              <a:t>Q: Why separate income and expense tables? A: They have different fields and behavior, but are combined through TransactionRepository for UI lists and analytics.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Highlight the important logic: adding money to a goal increases savedCents and creates an expense transaction with category Goal, so financial summaries remain consistent.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Possible lecturer question and short answer:</a:t>
            </a:r>
          </a:p>
          <a:p xmlns:a="http://schemas.openxmlformats.org/drawingml/2006/main">
            <a:r>
              <a:t>Q: Why create an expense when adding goal savings? A: It records money allocated away from available balance and connects goal progress with transaction history.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Analytics is calculated from real transaction data. AnalyticsViewModel filters by selected month and prepares totals, category percentages, committed/discretionary split, income sources, and 5-month overview.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Possible lecturer question and short answer:</a:t>
            </a:r>
          </a:p>
          <a:p xmlns:a="http://schemas.openxmlformats.org/drawingml/2006/main">
            <a:r>
              <a:t>Q: Are analytics hardcoded? A: No. They are derived from transactions observed through TransactionRepository.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quick viva preparation slide. Use it to show the panel the logic you are ready to explain in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Possible lecturer question and short answer:</a:t>
            </a:r>
          </a:p>
          <a:p xmlns:a="http://schemas.openxmlformats.org/drawingml/2006/main">
            <a:r>
              <a:t>Q: Which date field is used for monthly reports? A: dateMillis, because it is the user-selected transaction event date. createdAtMillis is only audit metadata.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UI is designed for repeated daily use. The app avoids long explanatory text in screens and uses cards, chips, forms, and quick actions to reduce friction.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Possible lecturer question and short answer:</a:t>
            </a:r>
          </a:p>
          <a:p xmlns:a="http://schemas.openxmlformats.org/drawingml/2006/main">
            <a:r>
              <a:t>Q: Why keep quick-add actions visible? A: Transaction entry must be low-friction, otherwise users abandon finance trackers.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demo plan. The presentation should be paused here before the live app demo if time is short.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Possible lecturer question and short answer:</a:t>
            </a:r>
          </a:p>
          <a:p xmlns:a="http://schemas.openxmlformats.org/drawingml/2006/main">
            <a:r>
              <a:t>Q: What data should be prepared before demo? A: At least one income, several categorized expenses, one goal with savings, and transactions in the selected analytics month.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helps answer why questions. Emphasize tradeoffs: the team chose practical, maintainable patterns rather than putting everything in screens.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Possible lecturer question and short answer:</a:t>
            </a:r>
          </a:p>
          <a:p xmlns:a="http://schemas.openxmlformats.org/drawingml/2006/main">
            <a:r>
              <a:t>Q: Why use Hilt? A: It provides Firebase, Room, DAOs, repositories, ViewModels, and workers without manual factories.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honest and professional. Limitations do not weaken the project if they are clearly understood and realistic future work is proposed.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Possible lecturer question and short answer:</a:t>
            </a:r>
          </a:p>
          <a:p xmlns:a="http://schemas.openxmlformats.org/drawingml/2006/main">
            <a:r>
              <a:t>Q: What is the biggest technical improvement needed? A: Updating Firestore rules for the current schema and improving offline delete conflict handling.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restating the value: the app turns fragmented income, expenses, and goals into one consistent system. Invite questions about architecture, database, sync, and feature logic.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Possible lecturer question and short answer:</a:t>
            </a:r>
          </a:p>
          <a:p xmlns:a="http://schemas.openxmlformats.org/drawingml/2006/main">
            <a:r>
              <a:t>Q: What is the strongest technical point of your project? A: The local-first MVVM architecture using Room, Firestore, repositories, StateFlow, Hilt, and WorkManager sync.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f188a298a040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716eea6b0f4568" /><Relationship Type="http://schemas.openxmlformats.org/officeDocument/2006/relationships/slideLayout" Target="/ppt/slideLayouts/slideLayout1.xml" Id="R2963450ea8964c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63450ea8964c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ce9638f6e4da2" /><Relationship Type="http://schemas.openxmlformats.org/officeDocument/2006/relationships/notesSlide" Target="/ppt/notesSlides/notesSlide1.xml" Id="Rf7eddf5436da4d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8f7a2e36e4251" /><Relationship Type="http://schemas.openxmlformats.org/officeDocument/2006/relationships/notesSlide" Target="/ppt/notesSlides/notesSlide2.xml" Id="R694908ea923245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f1b3558aa423d" /><Relationship Type="http://schemas.openxmlformats.org/officeDocument/2006/relationships/notesSlide" Target="/ppt/notesSlides/notesSlide3.xml" Id="R1202489b3f3149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205a864694346" /><Relationship Type="http://schemas.openxmlformats.org/officeDocument/2006/relationships/notesSlide" Target="/ppt/notesSlides/notesSlide4.xml" Id="Rc275bac537654d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1b5cfec3e4307" /><Relationship Type="http://schemas.openxmlformats.org/officeDocument/2006/relationships/notesSlide" Target="/ppt/notesSlides/notesSlide5.xml" Id="R7d6ae1bfd9fc44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5eb1c1fa54469" /><Relationship Type="http://schemas.openxmlformats.org/officeDocument/2006/relationships/notesSlide" Target="/ppt/notesSlides/notesSlide6.xml" Id="R0de7117b9fb84b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5f5dd095347cb" /><Relationship Type="http://schemas.openxmlformats.org/officeDocument/2006/relationships/notesSlide" Target="/ppt/notesSlides/notesSlide7.xml" Id="R72b43f76840544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bbebe2f70448f" /><Relationship Type="http://schemas.openxmlformats.org/officeDocument/2006/relationships/notesSlide" Target="/ppt/notesSlides/notesSlide8.xml" Id="R32e2b7de7da244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f09ef3f9a4d20" /><Relationship Type="http://schemas.openxmlformats.org/officeDocument/2006/relationships/notesSlide" Target="/ppt/notesSlides/notesSlide9.xml" Id="R9fe20a8eec1547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6535c624b4480" /><Relationship Type="http://schemas.openxmlformats.org/officeDocument/2006/relationships/notesSlide" Target="/ppt/notesSlides/notesSlide10.xml" Id="Re7dc7083f8174e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93dc7a547435f" /><Relationship Type="http://schemas.openxmlformats.org/officeDocument/2006/relationships/notesSlide" Target="/ppt/notesSlides/notesSlide11.xml" Id="R61a1a832fd6648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02b0b5d5a4a42" /><Relationship Type="http://schemas.openxmlformats.org/officeDocument/2006/relationships/notesSlide" Target="/ppt/notesSlides/notesSlide12.xml" Id="R08f6a0ec84c14f3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4c296f27648c2" /><Relationship Type="http://schemas.openxmlformats.org/officeDocument/2006/relationships/notesSlide" Target="/ppt/notesSlides/notesSlide13.xml" Id="R2c2a865cd2934bb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dd269ef454f08" /><Relationship Type="http://schemas.openxmlformats.org/officeDocument/2006/relationships/notesSlide" Target="/ppt/notesSlides/notesSlide14.xml" Id="R89058cbb08a048e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47739173e4dc2" /><Relationship Type="http://schemas.openxmlformats.org/officeDocument/2006/relationships/notesSlide" Target="/ppt/notesSlides/notesSlide15.xml" Id="R4105b35848734c9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c3b96d2f84746" /><Relationship Type="http://schemas.openxmlformats.org/officeDocument/2006/relationships/notesSlide" Target="/ppt/notesSlides/notesSlide16.xml" Id="R4bdea69f6fb1410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5ab482c234b84" /><Relationship Type="http://schemas.openxmlformats.org/officeDocument/2006/relationships/notesSlide" Target="/ppt/notesSlides/notesSlide17.xml" Id="R9461f4a183dc4c6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399fe2f4b4d5e" /><Relationship Type="http://schemas.openxmlformats.org/officeDocument/2006/relationships/notesSlide" Target="/ppt/notesSlides/notesSlide18.xml" Id="R91e0794d43aa462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411c4febe4c80" /><Relationship Type="http://schemas.openxmlformats.org/officeDocument/2006/relationships/notesSlide" Target="/ppt/notesSlides/notesSlide19.xml" Id="Re99e1b241f234b6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1489076d74fdd" /><Relationship Type="http://schemas.openxmlformats.org/officeDocument/2006/relationships/notesSlide" Target="/ppt/notesSlides/notesSlide20.xml" Id="R38f20f6a650646b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30810a76c4cc9" /><Relationship Type="http://schemas.openxmlformats.org/officeDocument/2006/relationships/notesSlide" Target="/ppt/notesSlides/notesSlide21.xml" Id="R48c408fc9c214aa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f18b36fa64fbf" /><Relationship Type="http://schemas.openxmlformats.org/officeDocument/2006/relationships/notesSlide" Target="/ppt/notesSlides/notesSlide22.xml" Id="R53610ed74d274e0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4d75cfec446d0" /><Relationship Type="http://schemas.openxmlformats.org/officeDocument/2006/relationships/notesSlide" Target="/ppt/notesSlides/notesSlide23.xml" Id="Ra65e52c042504f0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5260dfd4747fe" /><Relationship Type="http://schemas.openxmlformats.org/officeDocument/2006/relationships/notesSlide" Target="/ppt/notesSlides/notesSlide24.xml" Id="R65ea3543cd91447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64CC0C-B4EE-477D-9CB1-14DBEC43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A64F7-16D8-4058-9DB5-7E1D9C40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7B5B"/>
              </a:gs>
              <a:gs pos="100000">
                <a:srgbClr val="10212B"/>
              </a:gs>
            </a:gsLst>
            <a:lin ang="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CB691-B79E-42E9-80AF-FFBF1BEE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FF7EE"/>
                </a:solidFill>
                <a:latin typeface="Aptos"/>
                <a:ea typeface="Aptos"/>
                <a:cs typeface="Aptos"/>
              </a:defRPr>
            </a:pPr>
            <a:r>
              <a:t>Spendly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15D2E-6AB2-4C8E-B5B9-A4007819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6000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839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Spendly — Smart Personal Finance Management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C016B-2555-4EDC-AE84-45DC0C12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0375"/>
            <a:ext cx="571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FF7EE"/>
                </a:solidFill>
                <a:latin typeface="Aptos"/>
                <a:ea typeface="Aptos"/>
                <a:cs typeface="Aptos"/>
              </a:defRPr>
            </a:pPr>
            <a:r>
              <a:t>Kotlin Android Financial Tracker 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57FA8-258A-43F9-BDD9-8C1C94D9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2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7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79059-AA26-4395-8A31-D5516B9F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67125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MVVM + Room + Firebase + WorkManager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2221B-33A3-433A-AD9E-057459B9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62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7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C6761-9BAA-4A76-96D3-4B699164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67175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Scenario-driven personal finance tracking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89EC9-58F5-4BD1-ABA9-03CCDA14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62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7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F95BF5-5F5A-43E9-896A-5467C1C4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67225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Built for a 15-minute live engineering 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6BF76-901F-420B-AA45-DD91A079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38200"/>
            <a:ext cx="2333625" cy="4238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C1216"/>
          </a:solidFill>
          <a:ln xmlns:a="http://schemas.openxmlformats.org/drawingml/2006/main" w="19050">
            <a:solidFill>
              <a:srgbClr val="0C121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BC4F4-BD5F-4A9E-8006-D0B08D91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952500"/>
            <a:ext cx="2105025" cy="4010025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F7F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71F8F-AB70-4819-9472-4F69963D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009650"/>
            <a:ext cx="100012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C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CF7E50-9C25-49F2-886D-D0DFED29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238250"/>
            <a:ext cx="21050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548EAB-3320-4D5E-9D37-0339F27A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906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Good morning,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AEE6FA-EA7F-45DE-B869-3256ECC6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811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Kavindu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966130-9006-440E-BCC8-CAA15A17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81200"/>
            <a:ext cx="16859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FF7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43D2CE-764D-446B-B9C7-BADF8DE7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57400"/>
            <a:ext cx="10382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Total Balance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2095F9-E87D-41F9-B739-6893F59B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47900"/>
            <a:ext cx="1038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LKR 127,213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085E8D-923F-4EE0-A046-DC682BE1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05100"/>
            <a:ext cx="80962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EEAD6E-D74E-4E8C-8618-AD94068B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05100"/>
            <a:ext cx="80962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A644E0-A3AC-4CB1-9E2B-A09E6232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90825"/>
            <a:ext cx="83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Income</a:t>
            </a:r>
          </a:p>
          <a:p xmlns:a="http://schemas.openxmlformats.org/drawingml/2006/main">
            <a:pPr algn="l">
              <a:defRPr sz="90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215,413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F8850D-EBA5-41A8-AD96-A4539932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90825"/>
            <a:ext cx="83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4D5B"/>
                </a:solidFill>
                <a:latin typeface="Aptos"/>
                <a:ea typeface="Aptos"/>
                <a:cs typeface="Aptos"/>
              </a:defRPr>
            </a:pPr>
            <a:r>
              <a:t>Expense</a:t>
            </a:r>
          </a:p>
          <a:p xmlns:a="http://schemas.openxmlformats.org/drawingml/2006/main">
            <a:pPr algn="l">
              <a:defRPr sz="900" b="1">
                <a:solidFill>
                  <a:srgbClr val="E84D5B"/>
                </a:solidFill>
                <a:latin typeface="Aptos"/>
                <a:ea typeface="Aptos"/>
                <a:cs typeface="Aptos"/>
              </a:defRPr>
            </a:pPr>
            <a:r>
              <a:t>88,200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7591FD-0E6F-473A-9A0F-FE8E7E9F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09950"/>
            <a:ext cx="1762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EB6FF7-BD5D-4872-AE17-C1979538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623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MacBook Pro M4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5D3491-043D-4258-A6B0-B0F03C24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13430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B11714-83F2-48AD-BC0A-BD9C1C59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895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95AA47-6AE7-43F8-A56D-7F9B20AA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2195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5DC9F8-CBEF-4534-90F4-DAE58955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38625"/>
            <a:ext cx="400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F084D5-3A92-43E3-9F0F-1978D599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095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067880-D8E1-4879-A5A8-096E68D1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F4A52D-F915-4D3A-B644-0546D236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577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Core stack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726E25-2297-4F59-BCDC-5BB2F333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00600"/>
            <a:ext cx="17526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Kotlin / Compose / MVVM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F52633-09F5-4CC0-A201-15DA4343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86250"/>
            <a:ext cx="2095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4C76FC-FBBB-447F-B4DC-99B5E670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57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69CCF6-5074-425B-B5FF-D8F12323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577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Persistence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6B4324-4A35-4BD1-8C87-67D50E24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800600"/>
            <a:ext cx="17526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652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Room local-first + Firestore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8C111C-E88D-47E1-B1E3-560D7DA4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86250"/>
            <a:ext cx="2095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08CD36-218D-4BD3-BE39-BC43034C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457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76454-87AE-491A-B7B7-4B984C2A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4577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Sync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FA4446-8F6A-4C3B-8170-05086DA7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800600"/>
            <a:ext cx="17526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Hilt + WorkManager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3FE092-F53F-4086-B740-18790317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FF7EE"/>
                </a:solidFill>
                <a:latin typeface="Aptos"/>
                <a:ea typeface="Aptos"/>
                <a:cs typeface="Aptos"/>
              </a:defRPr>
            </a:pPr>
            <a:r>
              <a:t>Live demo and engineering discussion</a:t>
            </a:r>
          </a:p>
        </p:txBody>
      </p:sp>
    </p:spTree>
    <p:extLst>
      <p:ext uri="{BB962C8B-B14F-4D97-AF65-F5344CB8AC3E}">
        <p14:creationId xmlns:p14="http://schemas.microsoft.com/office/powerpoint/2010/main" val="6306863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E2B8CF-4F59-4C6F-AAAA-26711DCC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BF8CF-3B60-417B-868F-E9C57FC8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092DF-0216-4DDA-99F6-30542F04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762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t>Requirement Derivation Process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F335D-E978-4649-A26A-DB0455B1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E1180-37A5-4683-8C1E-EA070844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95817-1189-4391-91B7-765402ED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811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Scenario and user pain 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B158C-E77C-4B45-879B-779F5C4C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11597-7D67-4463-9C83-328CEDA8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Existing tool failure analysis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58DAB-B59F-4FA9-8BBE-BF220E0D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10855-C49D-40A0-8E82-64685EBF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812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Functional and quality requirement mapping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E8031-2EA1-4EC7-A4D9-F43AAD77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D9E1F8-3D69-47D5-883D-67EFD1C8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812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Implementation and 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6CFAEB-1F85-4DD9-995A-DBE685B9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527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19050">
            <a:solidFill>
              <a:srgbClr val="14A37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FCB39-E2C6-46B3-8D41-CD2B071A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290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Persona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2B349B-4E31-4858-B193-B41EE1F5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527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A37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E5A27-4BA6-46C0-AEF4-10573FC7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Problems</a:t>
            </a:r>
          </a:p>
        </p:txBody>
      </p:sp>
      <p:cxnSp>
        <p:nvCxnSpPr>
          <p:cNvPr id="17" name=""/>
          <p:cNvCxnSpPr>
            <a:stCxn xmlns:a="http://schemas.openxmlformats.org/drawingml/2006/main" id="13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6819900" y="29146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8F85"/>
            </a:solidFill>
            <a:prstDash val="solid"/>
            <a:head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AA7ACA-D075-4953-98A7-130102A3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A37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281386-806C-4A8A-B0D4-977E647B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290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Requirements</a:t>
            </a:r>
          </a:p>
        </p:txBody>
      </p:sp>
      <p:cxnSp>
        <p:nvCxnSpPr>
          <p:cNvPr id="20" name=""/>
          <p:cNvCxnSpPr>
            <a:stCxn xmlns:a="http://schemas.openxmlformats.org/drawingml/2006/main" id="15" idx="6"/>
            <a:endCxn xmlns:a="http://schemas.openxmlformats.org/drawingml/2006/main" id="18" idx="2"/>
          </p:cNvCxnSpPr>
          <p:nvPr/>
        </p:nvCxnSpPr>
        <p:spPr>
          <a:xfrm xmlns:a="http://schemas.openxmlformats.org/drawingml/2006/main">
            <a:off x="7886700" y="29146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8F85"/>
            </a:solidFill>
            <a:prstDash val="solid"/>
            <a:head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8DC19A-39C7-44F7-AEC7-994C4A18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527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A37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226E6C-1E5C-40FB-84BB-6E2D987B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290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Architecture</a:t>
            </a:r>
          </a:p>
        </p:txBody>
      </p:sp>
      <p:cxnSp>
        <p:nvCxnSpPr>
          <p:cNvPr id="23" name=""/>
          <p:cNvCxnSpPr>
            <a:stCxn xmlns:a="http://schemas.openxmlformats.org/drawingml/2006/main" id="18" idx="6"/>
            <a:endCxn xmlns:a="http://schemas.openxmlformats.org/drawingml/2006/main" id="21" idx="2"/>
          </p:cNvCxnSpPr>
          <p:nvPr/>
        </p:nvCxnSpPr>
        <p:spPr>
          <a:xfrm xmlns:a="http://schemas.openxmlformats.org/drawingml/2006/main">
            <a:off x="8953500" y="29146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8F85"/>
            </a:solidFill>
            <a:prstDash val="solid"/>
            <a:head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42A067-C00A-44C3-834A-2F81127A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5527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A37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EB0291-8A77-4D80-8350-95370A1F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42900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Validation</a:t>
            </a:r>
          </a:p>
        </p:txBody>
      </p:sp>
      <p:cxnSp>
        <p:nvCxnSpPr>
          <p:cNvPr id="26" name=""/>
          <p:cNvCxnSpPr>
            <a:stCxn xmlns:a="http://schemas.openxmlformats.org/drawingml/2006/main" id="21" idx="6"/>
            <a:endCxn xmlns:a="http://schemas.openxmlformats.org/drawingml/2006/main" id="24" idx="2"/>
          </p:cNvCxnSpPr>
          <p:nvPr/>
        </p:nvCxnSpPr>
        <p:spPr>
          <a:xfrm xmlns:a="http://schemas.openxmlformats.org/drawingml/2006/main">
            <a:off x="10020300" y="29146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8F85"/>
            </a:solidFill>
            <a:prstDash val="solid"/>
            <a:head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A5E004-A25A-454E-973E-EB32FA5E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Spendly technical demo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744ACE-E0F7-4819-9AB8-75D5BAA1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2/24</a:t>
            </a:r>
          </a:p>
        </p:txBody>
      </p:sp>
    </p:spTree>
    <p:extLst>
      <p:ext uri="{BB962C8B-B14F-4D97-AF65-F5344CB8AC3E}">
        <p14:creationId xmlns:p14="http://schemas.microsoft.com/office/powerpoint/2010/main" val="17693598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1DEDAA-F55F-4724-9BA4-A7978211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B82D9-9AD8-4116-BF00-41E25EAC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89A36-D74D-43E2-B37E-52B583C6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762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t>Problem Background &amp; User Persona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AAAE5-A1B7-4991-A1D4-1D5C938E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34564-1080-413A-8BA7-BD384501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26057-3A3F-4102-8C75-86B5C176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811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914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Kavindu Silva, 25, junior software engineer in Colombo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6C47D-43FD-4BA2-8E19-63D9430F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83FF5-1021-4491-AF8F-54656538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Income from salary, freelance, AdSense, and crypto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ABF46-587F-4186-A4BF-B43F7017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5002B8-4F8C-4856-9397-2291F122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812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90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Expenses across cash, card, rent, food, transport, gym, subscriptions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7EA4C-96F6-4958-9A01-3BAB1D38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16399-6D8E-4D59-8A95-7DE46DE6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812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Core pain: cannot explain where money goes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25C500-B9F2-4CE0-8FEF-2B128BB0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219200"/>
            <a:ext cx="2190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10CAC9-83CF-41D1-B32C-A8583BAD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390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17B14B-BAA8-4680-915B-D348BE4B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3906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Income streams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3F35E1-2289-482A-A4D2-A6FF5619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733550"/>
            <a:ext cx="1847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Salary</a:t>
            </a:r>
          </a:p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Freelance</a:t>
            </a:r>
          </a:p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AdSense USD</a:t>
            </a:r>
          </a:p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Crypto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32C49-CA49-4B47-92D2-59D9A784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219200"/>
            <a:ext cx="2190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17BB96-4CE2-4D70-9400-B16D11E4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390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F22177-1FE1-4B29-8EA6-F516F3FF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3906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21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Expense channels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551E8C-4D0A-4A21-A39E-ED79CE5C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33550"/>
            <a:ext cx="1847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Rent</a:t>
            </a:r>
          </a:p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Food</a:t>
            </a:r>
          </a:p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Transport</a:t>
            </a:r>
          </a:p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Gym</a:t>
            </a:r>
          </a:p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Subscriptions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51CAD-EDD0-4FF8-9C01-9DF33245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43250"/>
            <a:ext cx="2952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D0C18D-05FC-4B28-BE9A-F25314FA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314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!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DB347B-83B6-40ED-AE28-47094EF2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3147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Problem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2E932C-4831-4A29-99D3-7065B9EE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657600"/>
            <a:ext cx="2609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Fragmented records make savings progress invisible.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AE463D-097B-412E-A37A-BB57161E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819650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Goal: MacBook Pro M4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03A183-B386-4629-8DEC-40CD7DD2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Spendly technical demo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B69900-0AA6-4379-9774-E8C80B48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3/24</a:t>
            </a:r>
          </a:p>
        </p:txBody>
      </p:sp>
    </p:spTree>
    <p:extLst>
      <p:ext uri="{BB962C8B-B14F-4D97-AF65-F5344CB8AC3E}">
        <p14:creationId xmlns:p14="http://schemas.microsoft.com/office/powerpoint/2010/main" val="20655658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7EF41A-0283-41CA-9438-A2C83105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77ABD-ACB3-4465-AE42-78B60986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E69C5-1B67-4E90-8F8E-517746A7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762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t>Functional Requirements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5421C-0F5D-4427-9887-328A0FDD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7A45D-CFF3-40CB-B42D-3AEB7483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DA1AC-5130-4D0F-8D1E-CDCF6436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811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Register, login, logout, reset/change password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56D34-EA87-4F96-8390-83EAD021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D79B2-4C15-4E1F-982E-7CB6DFB5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Add/edit/delete income and expenses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439B7-59E6-4F65-BCB5-0153E124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42802-B026-4490-8B6D-FAA6E477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812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Filter and group transaction 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7BDA8-C0B4-4114-9911-8F63FB28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63E1A0-D15C-46F8-9F2C-534D2493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812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Dashboard totals and recent activity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7830A-0006-4F56-B8C5-BBF1DBF6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7E5F4F-1A22-465C-96C5-976A8DE6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Create/edit goals and add savings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30B6E0-DF80-4066-BBB6-966690C7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FE183-D785-4094-9BD8-4D6D9FEE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813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Analytics by month, category, type, and 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C64FD2-0CAB-4720-9365-53B8D055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22383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45B73B-972E-4CCF-9D48-59816746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43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EB20BE-96FC-4AF3-8B36-29722E52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43075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Auth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0A9355-D590-4B36-AC10-4D72E457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85975"/>
            <a:ext cx="18954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Register, login, password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D78C27-7BE3-47B2-93A1-3CB4FAD0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71625"/>
            <a:ext cx="22383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8CF0DF-814F-4DF9-BECC-E5051515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43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7F7CD5-8435-454F-829B-E379A59C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43075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Transactions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E14689-4A23-4C39-A751-1E48A41F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85975"/>
            <a:ext cx="18954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Income, expense, history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CFEE56-5E48-410E-99C5-5FC6E48C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22383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32FA02-56BE-4EDE-A70D-841BB1D2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09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31E236-FE05-4135-8310-E9713A70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09950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Goals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42980C-6E03-4BDE-A2CC-EE79DBCE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18954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Create, edit, add savings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B2841F-C8C4-4C21-A48C-E01AE4E7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38500"/>
            <a:ext cx="22383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7404C9-E021-42BA-AB1E-12E9CB40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09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F5C7A4-5021-4B46-BFCD-F720A258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09950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Insights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950A81-089B-48D3-B27F-7A0CA4DC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52850"/>
            <a:ext cx="18954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Dashboard, analytics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6BCD47-B8FE-492B-8F10-88685E2B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Spendly technical demo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FE7E14-D7A8-4069-9C33-A58F69D0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4/24</a:t>
            </a:r>
          </a:p>
        </p:txBody>
      </p:sp>
    </p:spTree>
    <p:extLst>
      <p:ext uri="{BB962C8B-B14F-4D97-AF65-F5344CB8AC3E}">
        <p14:creationId xmlns:p14="http://schemas.microsoft.com/office/powerpoint/2010/main" val="20929822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345A51-5827-4536-8950-8425564A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4134B-09DE-41C8-9F99-6A4141F4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14A73-2B3E-4CA9-A8B2-71A3AD40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762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t>Non-Functional Requirements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A61C8-90EC-422B-8E5F-DB4DDDD5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E774F-B931-4448-B6D0-F9CC8D3A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952F6-4330-4DB6-85EC-36ECB777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811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Performance: Room-backed local loading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45BD7-08B3-4D71-89F1-E719A799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EDACE-2369-4B43-8824-4A1D05F6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Security: Firebase UID-based ownership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69F04-4656-4FD5-A09B-C5157703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A90723-4BE8-4F81-8FCE-A6F7B698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812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Reliability: unsynced local records retained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1B1428-17C0-47D2-B5EF-B37E00AF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32EE0-D394-4DE3-9027-7D822043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812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Maintainability: MVVM + repositories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10F49-936B-455C-8A95-43604A54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50E2E-F579-4875-B585-C80B82F3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Usability: quick entry, consistent 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51352F-CF3A-46CC-A29A-C2D0255C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F20CC1-B0B8-4DAC-8942-11AAB339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813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Data integrity: money stored as cents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6E318-1566-4A00-8A8A-9146C9C4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3812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C446A0-0413-4EE4-A01B-1AC81AE5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114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Spendly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Quality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416360-4B37-409A-B40E-CA72C602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95400"/>
            <a:ext cx="1524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EE4DAE-BF80-4189-BC91-3CBAF744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66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F607B7-212D-4887-A3E5-673139C5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668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82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Performance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002341-CABF-489B-8B8F-ADB8E9A0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118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52299F-9768-4060-AF2B-86EEF97A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751" y="2128838"/>
            <a:ext cx="1524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AF48FD-FF92-4FF2-991B-7A48B3B6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4151" y="2300288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CE5875-5728-4801-BCDE-CF303BF5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2301" y="2300288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Security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718DAC-DBFC-4966-A67A-AB8B4EEC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201" y="2643188"/>
            <a:ext cx="118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30116D-8C9E-4748-8ECD-AF3B9BDA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751" y="3795713"/>
            <a:ext cx="1524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38D0E5-3F55-4E80-90C4-16B41E90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4151" y="3967163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34F849-2289-483C-8027-B92442F1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2301" y="3967163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55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Reliability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691095-8326-4838-9EE5-70F8FB3F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201" y="4310063"/>
            <a:ext cx="118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BC03AF-72B2-4E4A-AFD7-4A63B6D8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29150"/>
            <a:ext cx="1524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FBCF4B-BDDD-4112-A46D-275565AE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00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94CD26-4113-4502-BA68-631C7463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006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18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Maintainability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CC8EF1-2E1C-4D52-8705-669DD0BF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43500"/>
            <a:ext cx="118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BAAD0B-F222-41D7-B6B7-D4A63AF0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9749" y="3795713"/>
            <a:ext cx="1524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9600F2-20A1-43CD-BB0B-853B7264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2149" y="3967163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6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D5A055-B83B-4E02-BA08-435AE5E0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0299" y="3967163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Usability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F77E0A-D223-4D69-9199-4EAAD886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1199" y="4310063"/>
            <a:ext cx="118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CAE28C-1B18-49EB-BFFA-2B19494D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9749" y="2128838"/>
            <a:ext cx="1524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558D5F-6471-4486-BF7E-479013C1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2149" y="2300288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4E04D02-A52D-468A-AF3C-0FCDE3AB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0299" y="2300288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Integrity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6E2BE3-9957-41C1-972A-1BEA5610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1199" y="2643188"/>
            <a:ext cx="118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888651-7C14-4CDD-9FC9-4A80ACF7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Spendly technical demo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0106B1-0DD4-4042-8408-4E0E2780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5/24</a:t>
            </a:r>
          </a:p>
        </p:txBody>
      </p:sp>
    </p:spTree>
    <p:extLst>
      <p:ext uri="{BB962C8B-B14F-4D97-AF65-F5344CB8AC3E}">
        <p14:creationId xmlns:p14="http://schemas.microsoft.com/office/powerpoint/2010/main" val="19597798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C14376-E8D7-443F-BD3C-61BB1009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C2016-45AE-42AF-AA22-6A6715C8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F69BE-653D-4278-818A-1259C9F0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762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t>Core User Flows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79E64-9898-448E-B2A4-162DF08B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BA1A9-602F-444F-BEE2-F52B9171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3A7BD-3922-4159-8B07-AEB07017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811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Register or login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40DA8-CCC2-4A97-BCFF-85D8754D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8AA6A-B366-410A-B675-203796E0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Add income / add expense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6DDA2-D3F6-4F02-80A1-EA93428D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560CE-1411-47DD-8F59-1F1631C3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812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View dashboard update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AC5B23-3772-4B43-8DFF-75FBEEC9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AD91D-E9B0-4AD6-97F9-D11DF997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812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Review History filters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0564D-2968-4827-B6CA-A84A52FF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DA192-120C-47D7-AA0F-0F2401EF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Create goal and add savings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4A6998-6E01-49F0-811C-C3BFB61B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7669CD-6869-49CC-935C-7E1BEA9C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813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View Analytics and Profile settings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84B8B5-C40A-4DAF-ABEA-88B2BB48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4A374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Auth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6883F-5695-45D0-802C-6FBE6EB2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619250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Dashboard</a:t>
            </a:r>
          </a:p>
        </p:txBody>
      </p:sp>
      <p:cxnSp>
        <p:nvCxnSpPr>
          <p:cNvPr id="19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353300" y="1971675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06A704-905C-4A89-87D0-B9FF9B27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Add Record</a:t>
            </a:r>
          </a:p>
        </p:txBody>
      </p:sp>
      <p:cxnSp>
        <p:nvCxnSpPr>
          <p:cNvPr id="21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639175" y="1971675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040CF4-3F3C-4F78-8426-1B26F5A8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619250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History</a:t>
            </a:r>
          </a:p>
        </p:txBody>
      </p:sp>
      <p:cxnSp>
        <p:nvCxnSpPr>
          <p:cNvPr id="23" name=""/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925050" y="1971675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E0ED5A-7A2A-4FE0-A63F-E2BB4CD6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Goals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62A2A2-3038-4FF6-BF9E-8FD4942B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38500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Analytics</a:t>
            </a:r>
          </a:p>
        </p:txBody>
      </p:sp>
      <p:cxnSp>
        <p:nvCxnSpPr>
          <p:cNvPr id="26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353300" y="3590925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79C199-DCCE-43B7-B7B8-E11A4CCA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Profile</a:t>
            </a:r>
          </a:p>
        </p:txBody>
      </p:sp>
      <p:cxnSp>
        <p:nvCxnSpPr>
          <p:cNvPr id="28" name=""/>
          <p:cNvCxnSpPr>
            <a:stCxn xmlns:a="http://schemas.openxmlformats.org/drawingml/2006/main" id="25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8639175" y="3590925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77C1F8-483E-4B32-8D0C-82C3CF4D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Spendly technical demo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99A494-E2FF-4FCF-BE85-6933550D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6/24</a:t>
            </a:r>
          </a:p>
        </p:txBody>
      </p:sp>
    </p:spTree>
    <p:extLst>
      <p:ext uri="{BB962C8B-B14F-4D97-AF65-F5344CB8AC3E}">
        <p14:creationId xmlns:p14="http://schemas.microsoft.com/office/powerpoint/2010/main" val="36936377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599119-B819-4632-847B-B344FAC7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73452-38E1-4582-934C-372A1DD6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A485C-D97C-45CE-8E90-29CA7810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762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t>Technology 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C8989-C3C2-4C39-BAA0-4AB418EC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EA11F-571E-4E56-9E50-9987CF13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C6925-3153-4D3F-89F9-5D1EAD67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811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Kotlin, Jetpack Compose, Material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99175-3299-45A8-A930-2871778F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DE507-7646-403C-BA0A-FE8B31F0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MVVM, Repository Pattern, ViewModels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B795C5-9042-4994-9648-48D4D060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37C9A-4DA2-4C58-AEF6-14A04576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812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Flow / StateFlow for reactive updates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51FFCD-3EAA-422C-8B77-E7DC0CD8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21E0FA-B7D8-4762-8DF9-C3DE6F97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812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Room local DB + Firebase Auth/Firestore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E9957F-C2E5-4538-861C-49AA0C74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75FED1-8397-4293-9FED-45D400C0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Hilt dependency injection + WorkManager sync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8DE851-81F1-4E98-AC9E-3243A22F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524000"/>
            <a:ext cx="3048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Compose UI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B94B7E-3CEF-4D14-89D6-296E50D5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90750"/>
            <a:ext cx="3429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ViewModels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4BF869-FB90-4098-8C9F-69C8739A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57500"/>
            <a:ext cx="3810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Repositories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B9C726-C29E-4915-88DF-532010CD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24250"/>
            <a:ext cx="4191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B6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Room DB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3D9B04-8279-4E5B-9A58-C3734B6D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91000"/>
            <a:ext cx="4572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A6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Firebase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103FCE-F402-4930-8185-5208BE44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857750"/>
            <a:ext cx="495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WorkManager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2CDDCA-BEDF-453C-91BB-90592FE4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Spendly technical 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4CAD33-B35D-40C1-ADDE-DDA11F5E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7/24</a:t>
            </a:r>
          </a:p>
        </p:txBody>
      </p:sp>
    </p:spTree>
    <p:extLst>
      <p:ext uri="{BB962C8B-B14F-4D97-AF65-F5344CB8AC3E}">
        <p14:creationId xmlns:p14="http://schemas.microsoft.com/office/powerpoint/2010/main" val="4101357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17F78E-6C03-4FAE-821B-3D1C2217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FE4DA-7A74-46E0-B9F9-36E4E5FA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6DB4B-2C2E-4229-BBDE-FCD93641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762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t>High-Level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1B5F7-8681-45D7-8C50-0C39CFEE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FA687-F907-4E68-B1CB-C8D34B02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870E3-A5D5-4B21-8CA3-68270944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811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Single Android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18780D-2021-4B6B-BEE7-8C1D7BE4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FA7E5-8DA5-48A7-9A38-C121F350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Compose screens and shared components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342BA9-293B-4197-ABC3-DACE643B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031F0D-D727-4FF3-B8F1-98C7D5B7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812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ViewModels expose StateFlow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F581A-307C-43E7-B215-027389DF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B0832F-ABBB-4008-B142-B5886782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812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Repositories coordinate data operations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BDDE6-2331-49DF-9127-50889D6F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75F805-DEE7-48DE-9280-0C429D3B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Room and Firestore store user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5514C3-7B24-4CD0-8809-3E592E3C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F224A-0CDA-43BF-ABD8-C452FE69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813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WorkManager retries sync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73CA28-E2ED-433C-A489-EC8FB43D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285875"/>
            <a:ext cx="1714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B7AA25-6144-43AF-BDF4-0EC41101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457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6FB6B4-847D-42F8-95A4-71E3C2EC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45732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90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Compose UI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8B2214-6958-487D-A218-4B888285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00225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Screens + components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DED141-CFF7-4695-A74A-22985BD0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28875"/>
            <a:ext cx="1714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820DAB-4D6A-4D72-9FE6-9C287C7C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00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34193D-EB09-4108-B0EF-BC27F766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0032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ViewModel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036101-70FF-4BC7-B88F-4D97714E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43225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StateFlow + validation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249795-73BB-4E9A-AE26-4295BC50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1714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675CAA-970C-4261-B9ED-0A861210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43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2D4A8E-F375-48FE-93D0-417074E4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4332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Repository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DEFA6F-E56F-4032-86C1-DE2244A9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86225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Interfaces + impls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D7C0C6-7484-4C2A-9178-2FD006AD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10125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E2F50F-3F59-464B-9F1A-AF251496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81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BC9FDE-AC94-4ADC-A67E-36903CA8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815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Room DB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FFC04C-A905-4FCE-BC2E-39F10EFA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324475"/>
            <a:ext cx="1466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22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Entities + DAOs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6520EF-FB18-4336-8E2C-94D44FD5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10125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84C22D-C5D0-476E-BE75-B0185AEF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81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03EF93-5BE6-49DE-9F7E-1406B277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815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Firestore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D957B4-E789-492C-8BC4-7AB79990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24475"/>
            <a:ext cx="1466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22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users/{uid}/...</a:t>
            </a:r>
          </a:p>
        </p:txBody>
      </p:sp>
      <p:cxnSp>
        <p:nvCxnSpPr>
          <p:cNvPr id="37" name=""/>
          <p:cNvCxnSpPr>
            <a:stCxn xmlns:a="http://schemas.openxmlformats.org/drawingml/2006/main" id="17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7620000" y="2047875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cxnSp>
        <p:nvCxnSpPr>
          <p:cNvPr id="38" name=""/>
          <p:cNvCxnSpPr>
            <a:stCxn xmlns:a="http://schemas.openxmlformats.org/drawingml/2006/main" id="21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7620000" y="3190875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cxnSp>
        <p:nvCxnSpPr>
          <p:cNvPr id="39" name=""/>
          <p:cNvCxnSpPr>
            <a:stCxn xmlns:a="http://schemas.openxmlformats.org/drawingml/2006/main" id="25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 flipH="1">
            <a:off x="6715125" y="4333875"/>
            <a:ext cx="904875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cxnSp>
        <p:nvCxnSpPr>
          <p:cNvPr id="40" name=""/>
          <p:cNvCxnSpPr>
            <a:stCxn xmlns:a="http://schemas.openxmlformats.org/drawingml/2006/main" id="25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7620000" y="4333875"/>
            <a:ext cx="1285875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ABACA5-07D2-4274-9689-AA4B0BB6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5275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BABA5E-C75F-4F03-9F6C-C3CC0EA2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6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E9F285-67D6-469D-AACF-1B1E278A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12420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135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WorkManager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71C4D5-E7CC-4A3A-BC5A-04284632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6710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background retry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F6F826-1611-49D5-8211-06F98197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Spendly technical demo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5B91E8-8368-4C23-A367-8745C615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8/24</a:t>
            </a:r>
          </a:p>
        </p:txBody>
      </p:sp>
    </p:spTree>
    <p:extLst>
      <p:ext uri="{BB962C8B-B14F-4D97-AF65-F5344CB8AC3E}">
        <p14:creationId xmlns:p14="http://schemas.microsoft.com/office/powerpoint/2010/main" val="5249674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49ADA0-8CF0-4ED1-AD35-141E202C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5BC71-973E-48C5-86EE-4B1AE0A7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7E729-362B-4F29-9BAD-287B9903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762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t>MVVM + Repository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5CAB1-C758-414E-84DD-DCB4BF61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F6B4E-83EB-49E0-BC35-B3C9A5AA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E48F1-4390-40AD-AA98-D6D125AB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811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UI renders state and sends events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C9772-E1CF-4C31-9732-2F9ADBAD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E6E50-E59B-4DA5-ACB4-9318E91C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ViewModel validates and prepares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3B45F-57D7-4CAB-897C-42DEAD77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29CFA-2969-4C0D-9884-8A98AA25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812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Repository hides data-source details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8354D-5B23-45C5-A820-2829246C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C9145-E3A8-4214-BAA2-187D6A11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812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DAOs query Room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0F7D74-2B69-4CAE-B60C-9C7D00EC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B1A9A-85DD-4B89-B6ED-088BC772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Firestore stores remote copy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43F51-9818-40BF-90E0-463B1D46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85875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10E249-0CA2-4B49-903B-D92D2A60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457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7F4142-B1EB-46E2-A5CE-C5E8DC30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573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Compose UI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64FE39-7E85-4A3B-99BE-0293CFFC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00225"/>
            <a:ext cx="2514600" cy="-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render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6D40B3-8B24-471F-9E33-ADFD88A9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24075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37FA28-1652-4797-9527-DE8A7265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95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519C8E-5613-4E4A-A331-BF03759C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955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ViewModel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06037D-08DF-4BA6-841B-08047B8E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38425"/>
            <a:ext cx="2514600" cy="-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validate + calculate</a:t>
            </a:r>
          </a:p>
        </p:txBody>
      </p:sp>
      <p:cxnSp>
        <p:nvCxnSpPr>
          <p:cNvPr id="23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8667750" y="1876425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DD87D4-33E8-4D7A-8F14-022ACEA2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62275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09DC33-2EA2-464A-B7F4-C0DBB83D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33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3575F1-5987-4410-AF39-00FF70AD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337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Repository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6A48F3-B5F6-4D48-85F5-5602C383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76625"/>
            <a:ext cx="2514600" cy="-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data source decision</a:t>
            </a:r>
          </a:p>
        </p:txBody>
      </p:sp>
      <p:cxnSp>
        <p:nvCxnSpPr>
          <p:cNvPr id="28" name=""/>
          <p:cNvCxnSpPr>
            <a:stCxn xmlns:a="http://schemas.openxmlformats.org/drawingml/2006/main" id="19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8667750" y="2714625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7F2CD1-BDA6-4BEA-A877-1867500C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00475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253B53-3B65-4683-B0DF-906D8CAF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71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A6CCFB-223A-4317-A249-18F042BE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719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Room DAO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7BD2DA-D1AF-46C4-A95D-B5F45F39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314825"/>
            <a:ext cx="2514600" cy="-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local query</a:t>
            </a:r>
          </a:p>
        </p:txBody>
      </p:sp>
      <p:cxnSp>
        <p:nvCxnSpPr>
          <p:cNvPr id="33" name=""/>
          <p:cNvCxnSpPr>
            <a:stCxn xmlns:a="http://schemas.openxmlformats.org/drawingml/2006/main" id="24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667750" y="3552825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B11032-820A-4CD0-9CAB-9736E4FB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38675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EB872D-3D13-4CD3-B607-D9D4384C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810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6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89403D-C0F9-4B6A-ACC2-ABC21BB5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101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Firestore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634BF3-C506-468A-8EAF-F5EE5CE5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153025"/>
            <a:ext cx="2514600" cy="-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remote document</a:t>
            </a:r>
          </a:p>
        </p:txBody>
      </p:sp>
      <p:cxnSp>
        <p:nvCxnSpPr>
          <p:cNvPr id="38" name=""/>
          <p:cNvCxnSpPr>
            <a:stCxn xmlns:a="http://schemas.openxmlformats.org/drawingml/2006/main" id="29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8667750" y="4391025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1950E3-FCB9-4B9B-A74F-7562CE83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Spendly technical demo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47DFE8-DFC5-426B-AC7B-946AFDDD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9/24</a:t>
            </a:r>
          </a:p>
        </p:txBody>
      </p:sp>
    </p:spTree>
    <p:extLst>
      <p:ext uri="{BB962C8B-B14F-4D97-AF65-F5344CB8AC3E}">
        <p14:creationId xmlns:p14="http://schemas.microsoft.com/office/powerpoint/2010/main" val="3328563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302747-DD20-404A-9CD8-8617873D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F722B-1533-4598-96A6-1A0E0FCF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ECDF6-3703-4C7A-A4F2-2F716759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762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t>Local-First Data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CAB41-2BF9-4D49-BEA2-50A7E8DC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A6113-A355-4769-8BA7-4B7230E2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DA350-B41B-46DB-B3D5-56A8CB30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811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User saves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2CFC8-3870-4A9F-BD5F-5D15E6C4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6A529-8A22-4A2C-BB6C-92316F37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ViewModel validates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207D72-3C5F-4F7B-A1AF-E1F73EEB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20DB7-C364-4B03-BAC5-4E20054D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812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Repository writes Room 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6B9249-59EF-4E21-BDDE-8684A94F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D27559-CB9C-49A7-B854-F701E1B2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812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Firestore upload attempted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36F6B3-E257-429E-97E2-116A49B3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D68FE9-351C-4CE0-8A89-F56F88BD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Success marks isSynced = true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8AEB77-CAFE-4432-BF36-1D7E0D18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611D9-02BE-45E6-8F18-A81FFDA2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813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WorkManager retries failures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8913FC-1613-4699-952C-197C104B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7EBF57-DE05-4745-8548-36906C9B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814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Flow updates UI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0822BD-BE9C-492B-A1AE-E9487A02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4A374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Save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2DCB38-CFA0-47CA-832B-8949645F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619250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Validate</a:t>
            </a:r>
          </a:p>
        </p:txBody>
      </p:sp>
      <p:cxnSp>
        <p:nvCxnSpPr>
          <p:cNvPr id="21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353300" y="1971675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B2C161-3988-43B2-BBB6-D8C22748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Room</a:t>
            </a:r>
          </a:p>
        </p:txBody>
      </p:sp>
      <p:cxnSp>
        <p:nvCxnSpPr>
          <p:cNvPr id="23" name=""/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639175" y="1971675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D4CCD2-3CAA-4BDB-A0E0-894A0E09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619250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Firestore</a:t>
            </a:r>
          </a:p>
        </p:txBody>
      </p:sp>
      <p:cxnSp>
        <p:nvCxnSpPr>
          <p:cNvPr id="25" name=""/>
          <p:cNvCxnSpPr>
            <a:stCxn xmlns:a="http://schemas.openxmlformats.org/drawingml/2006/main" id="22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925050" y="1971675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933DAB-9AC3-4A84-B12A-BE098113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Sync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2F61FB-37F3-4DB9-A4D4-3BA8355A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38500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StateFlow</a:t>
            </a:r>
          </a:p>
        </p:txBody>
      </p:sp>
      <p:cxnSp>
        <p:nvCxnSpPr>
          <p:cNvPr id="28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353300" y="3590925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3FCD21-A1F5-439F-8F6D-CD2F7057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UI</a:t>
            </a:r>
          </a:p>
        </p:txBody>
      </p:sp>
      <p:cxnSp>
        <p:nvCxnSpPr>
          <p:cNvPr id="30" name=""/>
          <p:cNvCxnSpPr>
            <a:stCxn xmlns:a="http://schemas.openxmlformats.org/drawingml/2006/main" id="27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8639175" y="3590925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C7A730-773E-472D-A45E-E1FFC206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Spendly technical demo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CCCD51-72D2-456A-A364-203BAFC7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10/24</a:t>
            </a:r>
          </a:p>
        </p:txBody>
      </p:sp>
    </p:spTree>
    <p:extLst>
      <p:ext uri="{BB962C8B-B14F-4D97-AF65-F5344CB8AC3E}">
        <p14:creationId xmlns:p14="http://schemas.microsoft.com/office/powerpoint/2010/main" val="39172306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C9905A-8AD9-4D3F-9200-CD372C35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5E85D-E61A-4A54-8756-1DD03759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A2A1F-E176-4C7B-A414-C6FA5FAA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762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t>ViewModel 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32FF9-3C3B-4925-A514-FCEA43F3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BC817-3185-4148-93C4-C1C7B93A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B5ADE3-FE69-4790-ABBD-30AB34F0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811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FinanceViewModel: session, dashboard, profile, sync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FD0AB-4D25-4D25-AFD3-D966B7C1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D1519-3A54-4D9D-BE0A-DE2825CF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CreateAccountViewModel: registration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2E9E2-9C89-4D5D-8F0E-93EF6D5B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4151D-8F74-436E-BF6D-A6B61BD7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812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TransactionsViewModel: filters, grouping, delete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26A3C-4905-4E5F-9D6F-09C9C48E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559C0-FA41-4D2C-940B-6A38CDFD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812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AddIncomeViewModel: income form + rate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344E6-5948-4D2A-9000-31574BF4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906C9-E121-49BE-88B2-1BDAF112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34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AddExpenseViewModel: expense form + balance 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C5159-F5A8-414A-995B-FF249312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0B4871-200C-4B55-BBD0-E24352E8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813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68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GoalsViewModel and AnalyticsViewModel: domain logic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1A201-CC9D-45C9-A230-4F6F8546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38250"/>
            <a:ext cx="22383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40E20F-4E8E-4EF0-BFC0-7769A1B0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409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A3E913-54A7-400D-9522-B8C18DF8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409700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Finance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69F061-8EBF-4BB7-B49E-5A2798F5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18954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22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screen state + logic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3E8975-B3B2-41D4-831B-5B8B6EB4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38250"/>
            <a:ext cx="22383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A41945-DA6A-470D-8FD8-34CDD671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409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FFD5CE-D6F6-4C6F-B3A8-55747287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409700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Create Account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88D390-B443-4063-B92C-7DF24D8E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52600"/>
            <a:ext cx="18954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22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screen state + logic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0746CA-CFB5-4411-AAD7-15750DE6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22383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3B64DC-5AB2-48BC-9850-3E67FC01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9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4572D7-924F-4042-8261-4923981E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09825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Transactions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C19082-555D-466E-A317-23D917EC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52725"/>
            <a:ext cx="18954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22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screen state + logic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43E90A-5D70-481A-92FB-8F2883E2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38375"/>
            <a:ext cx="22383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9DA1FE-B705-4731-9A80-A4B37556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09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42B3D7-F0DD-415C-8929-D4D367BE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09825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Add Income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7BAB88-D136-44F6-85E1-25E6E862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52725"/>
            <a:ext cx="18954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22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screen state + logic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E9A456-286E-4AF2-96F7-A1EDFDF2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22383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925F3C-501E-41E2-B838-46B289C8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09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6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FBE3E0-F5F5-4086-A417-386FBB3F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09950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Add Expense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B0EC52-BC80-43F3-AF41-0F339366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18954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22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screen state + logic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9A5F91-FCDC-48C8-A419-B5E42A39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38500"/>
            <a:ext cx="22383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658FD0-672B-4AD9-A32B-811B13C6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09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4648D4-D429-4393-AD5E-0056CB7E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09950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Goals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84E16D-1FC5-4383-B373-07443CAA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52850"/>
            <a:ext cx="18954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22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screen state + logic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E7D616-372D-485A-A26A-B8577914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38625"/>
            <a:ext cx="22383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2BD38D-1FD0-4EF6-AD0A-941C5892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10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471F4C-E9FA-45D2-BCCF-DC4B232F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10075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Analytics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408A02E-38E5-4DF6-9575-55B6315D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52975"/>
            <a:ext cx="18954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22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screen state + logic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24F00A-B3D6-4F7B-A07F-7E9F5840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Spendly technical demo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D90C14-F719-446F-B0EC-356676E4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11/24</a:t>
            </a:r>
          </a:p>
        </p:txBody>
      </p:sp>
    </p:spTree>
    <p:extLst>
      <p:ext uri="{BB962C8B-B14F-4D97-AF65-F5344CB8AC3E}">
        <p14:creationId xmlns:p14="http://schemas.microsoft.com/office/powerpoint/2010/main" val="74580155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27A9DA-3DB2-4ECD-8454-375D193F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306D9-E167-4204-B57F-0CF5B5C1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3CD50-FF8B-465C-96BB-CCB66F2E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762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t>Room Database Schema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5080E-DEB3-41A1-98B9-FDFE2688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03AC21-935A-4AAC-AB3A-07CE4768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B2F4A-569E-44D3-8679-C078E2BC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811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740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Entities: UserProfile, IncomeEntry, ExpenseEntry, SavingsGoal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42CCC-AE96-4A21-BA36-F18E694C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35FB9-8463-4E78-9F5A-892D1355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215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DAOs: UserProfileDao, IncomeDao, ExpenseDao, GoalDao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C59226-829F-4407-BE58-CC5CB731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AAD0A-378E-42EF-AA4D-9B6177E1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812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Database: SpendlyDatabase version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E1FF6-18EC-4775-B1C4-F94AFD5A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4B3A0-D0DC-4477-9B76-61EC6CA8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812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59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Key fields: amountCents, dateMillis, updatedAtMillis, isSynced, goalId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8423FC-827C-4C92-827C-5799BF80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285875"/>
            <a:ext cx="2190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BB83A3-7B29-4456-9033-383348A5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1457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F12B5E-A6A3-43B7-BE99-31558CAF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4573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UserProfile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7B724A-E1D8-41AA-8FA6-CDE51CB1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800225"/>
            <a:ext cx="1847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uid, currency, theme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83700-C450-4994-96FA-9C67F85F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57500"/>
            <a:ext cx="2000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679538-D4D3-4D03-A6AD-F340ED18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28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8E79E-EA47-4B8F-A83B-CDDE8537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IncomeEntry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C67069-44C6-422E-8EA0-D972EDE6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71850"/>
            <a:ext cx="1657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amountCents, source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0FAC5C-A9EF-480C-A990-A5EE6495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57500"/>
            <a:ext cx="2000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5E36BE-B2C3-4C59-9952-06D7F033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028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94E7DC-7542-4BA5-8B24-5776D928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289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ExpenseEntry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272549-8890-4AFC-9F1D-9D902549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371850"/>
            <a:ext cx="1657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category, goalId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D8E780-E9F9-4250-A402-883BFE28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76750"/>
            <a:ext cx="2190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C13884-C3E6-4101-9564-BFDD2A52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648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3F1583-1A8F-46E3-B0DA-C41BA59C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482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SavingsGoal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76AB3B-3B63-4E1C-A249-24287634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91100"/>
            <a:ext cx="1847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targetCents, savedCents</a:t>
            </a:r>
          </a:p>
        </p:txBody>
      </p:sp>
      <p:cxnSp>
        <p:nvCxnSpPr>
          <p:cNvPr id="29" name=""/>
          <p:cNvCxnSpPr>
            <a:stCxn xmlns:a="http://schemas.openxmlformats.org/drawingml/2006/main" id="13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6905625" y="1990725"/>
            <a:ext cx="1952625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cxnSp>
        <p:nvCxnSpPr>
          <p:cNvPr id="30" name=""/>
          <p:cNvCxnSpPr>
            <a:stCxn xmlns:a="http://schemas.openxmlformats.org/drawingml/2006/main" id="13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8858250" y="1990725"/>
            <a:ext cx="476250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cxnSp>
        <p:nvCxnSpPr>
          <p:cNvPr id="31" name=""/>
          <p:cNvCxnSpPr>
            <a:stCxn xmlns:a="http://schemas.openxmlformats.org/drawingml/2006/main" id="13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8239125" y="1990725"/>
            <a:ext cx="619125" cy="2486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cxnSp>
        <p:nvCxnSpPr>
          <p:cNvPr id="32" name=""/>
          <p:cNvCxnSpPr>
            <a:stCxn xmlns:a="http://schemas.openxmlformats.org/drawingml/2006/main" id="25" idx="3"/>
            <a:endCxn xmlns:a="http://schemas.openxmlformats.org/drawingml/2006/main" id="21" idx="2"/>
          </p:cNvCxnSpPr>
          <p:nvPr/>
        </p:nvCxnSpPr>
        <p:spPr>
          <a:xfrm xmlns:a="http://schemas.openxmlformats.org/drawingml/2006/main" flipV="1">
            <a:off x="9334500" y="3562350"/>
            <a:ext cx="0" cy="1266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B61FF"/>
            </a:solidFill>
            <a:prstDash val="solid"/>
            <a:head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E0AEF2-D3DC-431E-A93E-C9ED25B4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Spendly technical demo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2CCEAE-4635-4A8B-9335-16201A7B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12/24</a:t>
            </a:r>
          </a:p>
        </p:txBody>
      </p:sp>
    </p:spTree>
    <p:extLst>
      <p:ext uri="{BB962C8B-B14F-4D97-AF65-F5344CB8AC3E}">
        <p14:creationId xmlns:p14="http://schemas.microsoft.com/office/powerpoint/2010/main" val="188508610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F50162-91E9-4AF8-8660-E649624C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E0A0B-E428-4744-8384-EF2C6A83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04A1C-3B1E-4854-92FF-6F637719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762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t>Firestore Structure &amp; Queries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4B8AD-2066-4FD9-91DA-CA66E54A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79933-9F95-4668-871A-569BD22C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CBC40-5803-4B9B-8D0C-4C7840AE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811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users/{uid}/profile/main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758B6-1B2D-4ED2-8244-E5DD1082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147C66-84C4-4114-AC48-F0A1BD0A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users/{uid}/income/{incomeId}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93AED-C336-44C8-9BB0-CD2095B0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786E7-4429-4033-B854-90F6CACA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812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users/{uid}/expenses/{expenseId}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DD091D-95CF-46A5-8BEE-6B0DA258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2C4F8D-69DE-4D8B-88AA-96B4FF1E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812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users/{uid}/goals/{goalId}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B57C9-6425-4EFB-AB42-237D84C9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CC1864-3D4D-4E40-B3E4-9C2ECB93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Remote sync compares updatedAtMillis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BC571E-46A7-4FFD-8682-33BF50BB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285875"/>
            <a:ext cx="2190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3CC8A2-BEF6-4FF2-8D43-60F668E2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457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7E2A65-66A7-460D-9720-0AE995D1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4573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users/{uid}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A2851A-4839-4DB9-B7C5-FA0AB9D6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800225"/>
            <a:ext cx="1847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Firebase owner key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19AC34-0AB7-41C2-BB36-CD92988F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22383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CD0F5D-C29A-4A4C-A5C2-F8188553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38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BA05FF-FF8D-4472-8364-64502BC7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38450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profile/main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136169-02A4-4ED0-B93A-AFB43213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81350"/>
            <a:ext cx="18954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settings + profile</a:t>
            </a:r>
          </a:p>
        </p:txBody>
      </p:sp>
      <p:cxnSp>
        <p:nvCxnSpPr>
          <p:cNvPr id="23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7405688" y="1952625"/>
            <a:ext cx="1357313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319C5B-BCC3-4596-B313-0797B804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67000"/>
            <a:ext cx="22383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EC9B2C-28A0-4E18-ACE5-8C4CCD45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38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60BBF5-6262-4298-945F-D767A5EC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838450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income/{id}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60392B-5A6D-4B47-B160-0F534A92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181350"/>
            <a:ext cx="18954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cloud collection</a:t>
            </a:r>
          </a:p>
        </p:txBody>
      </p:sp>
      <p:cxnSp>
        <p:nvCxnSpPr>
          <p:cNvPr id="28" name=""/>
          <p:cNvCxnSpPr>
            <a:stCxn xmlns:a="http://schemas.openxmlformats.org/drawingml/2006/main" id="15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8763000" y="1952625"/>
            <a:ext cx="1262063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DFE49A-55D1-493B-80E4-3352CB1F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22383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1EE4A0-66E7-45FB-8186-D253770C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76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8B6FDE-4A52-4498-A874-2DED7F90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76700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expenses/{id}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736162-C7E9-400B-AEC4-5AB70A19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19600"/>
            <a:ext cx="18954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cloud collection</a:t>
            </a:r>
          </a:p>
        </p:txBody>
      </p:sp>
      <p:cxnSp>
        <p:nvCxnSpPr>
          <p:cNvPr id="33" name=""/>
          <p:cNvCxnSpPr>
            <a:stCxn xmlns:a="http://schemas.openxmlformats.org/drawingml/2006/main" id="15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 flipH="1">
            <a:off x="7405688" y="1952625"/>
            <a:ext cx="1357313" cy="1952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C2C709-2833-43CE-953F-D59FDDAC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05250"/>
            <a:ext cx="223837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8E06C9-1740-4CA0-BEB8-88DB6F58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076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57FF6D-BADE-471D-AE49-74EDEBAF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076700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goals/{id}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B27A33-A89D-42AA-A265-B0F7628C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419600"/>
            <a:ext cx="18954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cloud collection</a:t>
            </a:r>
          </a:p>
        </p:txBody>
      </p:sp>
      <p:cxnSp>
        <p:nvCxnSpPr>
          <p:cNvPr id="38" name=""/>
          <p:cNvCxnSpPr>
            <a:stCxn xmlns:a="http://schemas.openxmlformats.org/drawingml/2006/main" id="15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8763000" y="1952625"/>
            <a:ext cx="1262063" cy="1952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599967-44F8-4A7C-8070-5388C5EF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Spendly technical demo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5E6F55-3D96-452C-95CD-A79711A6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13/24</a:t>
            </a:r>
          </a:p>
        </p:txBody>
      </p:sp>
    </p:spTree>
    <p:extLst>
      <p:ext uri="{BB962C8B-B14F-4D97-AF65-F5344CB8AC3E}">
        <p14:creationId xmlns:p14="http://schemas.microsoft.com/office/powerpoint/2010/main" val="191858210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9C4377-A943-4A7D-800D-90A64EE4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74676-4224-4955-85A0-8D31770D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A8FB4-4007-43D2-8813-47576215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762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t>Sync Logic with WorkManager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BCD90-868B-4139-A662-39CF9E2D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4DE2D-2483-40CA-99F8-A135FA08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E3404-5DF6-4130-8AE0-38B39006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811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SpendlySyncWorker + SyncManager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422AB-8B36-4A36-9101-0F27137D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93BC7-D318-4CF5-A5C6-CD505F8F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Network constraint: connected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E3886B-B41D-474E-86E1-AD37071E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BF0B30-D85F-41E7-BA4F-9ADCBF5C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812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Periodic sync: 15 minutes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53BC4-EF3F-40DC-9454-6B4A3EE3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BA9D5E-936C-4D1A-89B6-B98D5712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812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Immediate sync after sign-in and important writes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1D7B60-ED8D-4C4E-9163-DAA40A10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0788C4-4BE9-489C-99EE-2BB4C52E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Syncs profile, income, expenses, goals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3BDE0-C408-4438-9BD7-43800C05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0975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72631-D43E-447E-A355-B0B59B30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981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93C147-6196-4FC3-A602-EABD8764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9812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Room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265E3E-DCCC-4F35-84AD-B436EB86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3241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4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isSynced=false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F6A061-C884-4EBD-A7D1-14CE9ED0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ED37C0-F460-4B8C-B28E-39D9DE7B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81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6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597C4E-9BA4-47E3-9DED-52BF45F3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812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Worker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F98E17-130D-4139-B65F-AE63E542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241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4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network connected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F59E30-2992-4149-8F3C-65AD66B7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1475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C3225D-7C18-41B2-B2D9-2F5D5505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86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4D36A4-1F08-4AA5-AFEA-606B5EBC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862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Firestore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D48F00-DD7D-463E-AA7C-A6EAD738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291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4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upload docs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62A2F6-9D3A-43AA-B713-1BF38657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1475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5F1094-896F-431B-A317-66B8EF2B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886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32F949-167A-4DA7-BB6D-4D0A0471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8862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Room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38865E-C5C1-4D88-8E67-56277FDF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2291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4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mark synced</a:t>
            </a:r>
          </a:p>
        </p:txBody>
      </p:sp>
      <p:cxnSp>
        <p:nvCxnSpPr>
          <p:cNvPr id="31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143875" y="22002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cxnSp>
        <p:nvCxnSpPr>
          <p:cNvPr id="32" name=""/>
          <p:cNvCxnSpPr>
            <a:stCxn xmlns:a="http://schemas.openxmlformats.org/drawingml/2006/main" id="19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525000" y="2590800"/>
            <a:ext cx="0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cxnSp>
        <p:nvCxnSpPr>
          <p:cNvPr id="33" name=""/>
          <p:cNvCxnSpPr>
            <a:stCxn xmlns:a="http://schemas.openxmlformats.org/drawingml/2006/main" id="23" idx="1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>
            <a:off x="8143875" y="41052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cxnSp>
        <p:nvCxnSpPr>
          <p:cNvPr id="34" name=""/>
          <p:cNvCxnSpPr>
            <a:stCxn xmlns:a="http://schemas.openxmlformats.org/drawingml/2006/main" id="27" idx="0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V="1">
            <a:off x="7286625" y="2590800"/>
            <a:ext cx="0" cy="1123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B82F6"/>
            </a:solidFill>
            <a:prstDash val="solid"/>
            <a:headEnd type="arrow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CBD7A9-AC48-460B-9920-48B1F01F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Spendly technical demo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34D95C-D2CA-4F08-B9BD-E34F5483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14/24</a:t>
            </a:r>
          </a:p>
        </p:txBody>
      </p:sp>
    </p:spTree>
    <p:extLst>
      <p:ext uri="{BB962C8B-B14F-4D97-AF65-F5344CB8AC3E}">
        <p14:creationId xmlns:p14="http://schemas.microsoft.com/office/powerpoint/2010/main" val="163941421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386190-774B-4A83-A800-0A97EFDE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E26D0-3645-4E6F-A3BB-6F07C574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3F715-602A-4590-9264-42D6ED4F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762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t>Chamika Domain — Dashboard &amp; Profile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EE624-40A0-492F-8CA6-EDCF6002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D0DB5-227B-4352-9CBD-0EA871BA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632A7-EB87-4491-892E-BAE30009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811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Dashboard summary and recent transactions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43B8A-01CB-46D1-B9F5-BF162A0C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7C909-B61A-4E8A-9A23-04990994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Profile view and settings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1CDA7-B6C4-4D6A-8541-0320D196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0D6D8-FBDD-4DC5-AF25-575C3A93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812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Default currency and theme mode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B119F-5768-4FDC-BC86-026F9504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EDF7E0-1EE0-4CEB-9CE1-8705BC18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812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Password/profile 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E33CCF-5F7D-4F92-A72C-B670DC5D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49B6B2-7C4E-405B-B798-55EBB7E5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User repository + profile DAO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10005-6464-43C8-B654-8CD32A8E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76375"/>
            <a:ext cx="22383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63D84F-D734-41D6-A58E-01DF3329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47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436D4B-9E3C-4503-A750-505490B6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47825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Dashboard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4D4FE3-CB29-4110-BDBB-98A267F3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90725"/>
            <a:ext cx="18954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summary cards</a:t>
            </a:r>
          </a:p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recent transactions</a:t>
            </a:r>
          </a:p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live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D63EFB-26D4-4C48-94F2-B9A6ED3E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476375"/>
            <a:ext cx="22383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68E97E-8A69-41CA-88FB-B6BDB811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647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379241-6C46-4EF6-80B0-FA44B08C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647825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Profile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628476-0740-4A42-9326-74FC92AD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90725"/>
            <a:ext cx="18954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settings</a:t>
            </a:r>
          </a:p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currency</a:t>
            </a:r>
          </a:p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theme</a:t>
            </a:r>
          </a:p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password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5D12BF-FC9A-4E6C-82DB-4D304B00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3429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058788-DCCB-48FB-8918-FBE50E76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886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BC1BD5-DE12-42CC-8BBE-88B0DAFB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862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Backend link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B56A68-76C7-4BBC-BE34-29F93499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29100"/>
            <a:ext cx="3086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ViewModel → Repository → DAO / Firestore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A97CCC-45F2-430E-8B2D-F4E24DCC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Spendly technical demo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DB2C54-8FFB-4BFB-89CA-4C66F58C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15/24</a:t>
            </a:r>
          </a:p>
        </p:txBody>
      </p:sp>
    </p:spTree>
    <p:extLst>
      <p:ext uri="{BB962C8B-B14F-4D97-AF65-F5344CB8AC3E}">
        <p14:creationId xmlns:p14="http://schemas.microsoft.com/office/powerpoint/2010/main" val="127574393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2665F9-E2AE-41FA-8976-CD881125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48555-7A07-4FEC-8C9E-79ECC8BA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00821-C7EA-4035-95BC-F7176345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762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t>Yesen Domain — Transactions &amp; Create Account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15744-7396-41FB-A7C2-02A9CF9B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0CF7B-1F47-48FA-8D56-280A00BD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2E029-6168-44F4-A812-6599EE8F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811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Create account form and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A819D-C9E1-453C-A13E-8A3B90A7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FA3E7-0E5F-4D70-9923-A5204D0C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Add/edit income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52E8F-5748-4609-8609-669C8753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67F33-788F-4904-A0EA-B9F76847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812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Add/edit expense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712CB-F690-415D-95D9-654CBDC0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9F132C-ECB5-4F1E-893B-4EC3DFD4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812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History filters and grouped 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369FD-ED57-4265-89FC-875F181B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29F328-E977-423F-9FD5-43CC86E6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Income/expense repositories and DAOs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FDD4DC-F1F0-4668-BD3B-755D46A7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8C9968-7B6B-482F-A3D7-BEFE00BA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813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Currency and category/source settings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3F6192-897C-4FE0-992F-AF8F2F37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76375"/>
            <a:ext cx="22383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1FDA52-982F-4163-BFD5-B2765DEC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47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7FD3A0-C670-4EB3-8004-267910BF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47825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Create Account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CA34E2-EDE9-4E76-AF77-1D1CDA40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90725"/>
            <a:ext cx="18954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forms</a:t>
            </a:r>
          </a:p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validation</a:t>
            </a:r>
          </a:p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repositories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B8A524-8919-4C74-B6CF-E4A5C086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476375"/>
            <a:ext cx="22383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ADA951-9CCD-4DFB-80F9-F1E0CE2E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647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8D3E9E-5FA3-47B6-AED0-B5B51883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647825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Transactions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1857F0-3926-4B74-8346-B6AB75BD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90725"/>
            <a:ext cx="18954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history</a:t>
            </a:r>
          </a:p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income</a:t>
            </a:r>
          </a:p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expenses</a:t>
            </a:r>
          </a:p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create account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BE522A-FCDE-480C-AB5F-782BEA88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3429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37A9C2-0A05-438E-88C7-3D387F6B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886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32173C-BFFE-4C33-B688-51D88131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862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Backend link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3DDE90-64DB-4971-92CF-350DEB57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29100"/>
            <a:ext cx="3086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ViewModel → Repository → DAO / Firestore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3BE3C7-24B1-45D1-8364-978002FC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Spendly technical demo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8B09C4-3B68-4459-A093-C98A2030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16/24</a:t>
            </a:r>
          </a:p>
        </p:txBody>
      </p:sp>
    </p:spTree>
    <p:extLst>
      <p:ext uri="{BB962C8B-B14F-4D97-AF65-F5344CB8AC3E}">
        <p14:creationId xmlns:p14="http://schemas.microsoft.com/office/powerpoint/2010/main" val="100020421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E4326A-672E-4D48-B460-819C9BF1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FEFC2-3D44-485F-932D-44F31A79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AF585-DD06-4D0F-A030-EB24284C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762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t>Nikini Domain — Login &amp; Goals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A8879-DE60-49D2-8490-D3C54E97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423BB-10F2-4E56-99F3-A9C9F257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57CB6-1318-4299-9769-4A21EBBE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811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Login and session handling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CDE51-5644-4010-9526-88FEBF4E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A1E40-F769-4F38-BFAD-06408380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Goal creation/edit/delete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9B62F-DFF4-4AE5-8E9C-4E3CF5D1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C7CE3-BCA8-4FE5-9DBE-5FBCA064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812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Icon suggestion and manual icon selection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EDF3C-D080-4B54-83C8-61B045AD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9804E5-39B7-4F1E-B8A8-0B512282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812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Progress and remaining amount 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187DA-CBFA-4642-9D84-F22B9BF0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6A8DCB-E07F-4CFA-9765-7CC68AAF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Add savings with target 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67F1A0-EF67-4448-9146-3E3FB1CA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3D399E-A813-4C58-81BE-BE140C07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813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Goal saving creates linked Goal expense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9815A9-B8FE-42A7-A0E8-EA2A792B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247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C38C88-C1C3-40BB-9E7B-4E04BA1D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47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18B774-51EA-4E8D-9AD9-2453AFEF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4782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Goal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CE8A8-D64C-4538-9CCF-DA838BF7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90725"/>
            <a:ext cx="2133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MacBook Pro M4</a:t>
            </a:r>
          </a:p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savedCents / targetCents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38A4A5-5881-43D0-98CA-37EB7E86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76625"/>
            <a:ext cx="2333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DA6A3D-EAC1-4975-A6AF-48C937F4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48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8C8DB2-CFB6-4B97-B789-F36E4C55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48075"/>
            <a:ext cx="1571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Expense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9D9BFD-C610-4789-A4F9-EDA4FF37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90975"/>
            <a:ext cx="19907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category = Goal</a:t>
            </a:r>
          </a:p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goalId linked</a:t>
            </a:r>
          </a:p>
        </p:txBody>
      </p:sp>
      <p:cxnSp>
        <p:nvCxnSpPr>
          <p:cNvPr id="25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H="1">
            <a:off x="9029700" y="3781425"/>
            <a:ext cx="1990725" cy="3952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B61FF"/>
            </a:solidFill>
            <a:prstDash val="solid"/>
            <a:head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F44C6D-A323-4F94-BD2B-E637B250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09875"/>
            <a:ext cx="28575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E9817D-7DCE-4485-AF11-6537A80A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09875"/>
            <a:ext cx="9906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6D9302-EBD8-4FE8-8F19-BD0D2B8A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6705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Progress drives UI + validation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ED2800-A337-4B48-9FAD-F2A86C7A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Spendly technical demo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E7ACF6-EF6B-4559-9BC4-725E8509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17/24</a:t>
            </a:r>
          </a:p>
        </p:txBody>
      </p:sp>
    </p:spTree>
    <p:extLst>
      <p:ext uri="{BB962C8B-B14F-4D97-AF65-F5344CB8AC3E}">
        <p14:creationId xmlns:p14="http://schemas.microsoft.com/office/powerpoint/2010/main" val="89831483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0648C9-1C38-433F-A6E3-25337FAC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D5621-9635-4C6E-A305-4CBEC1F8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35DEA-BC0F-469F-9579-25CC506A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762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t>Mahima Domain — Analytics, DB Setup &amp; Sync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C497A-3978-4F88-8344-5FB2C429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B61F1-FE44-418E-BCCC-4D47DFDE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3D53F-869F-4FFD-9362-109B4E9B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811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Analytics UI and ViewModel aggregation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577B8-295C-4BB4-AA8C-A13C0530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525D4-E850-4189-9519-5845A63F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Room database foundation and migrations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DE30E1-623B-4622-A244-1E73B5C3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79AE9-AAFD-4524-8A3C-61B453DB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812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Entities and DAOs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FBC49-97BC-4AB6-AEE8-7CB8F9F5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3F437-1080-4A5B-947A-BBA9BB4E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812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Firebase/Firestore setup notes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7940C7-9603-493F-9217-2BE47C43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899754-FD3A-404C-9F70-A5B86AFA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WorkManager sync and caching logic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2B03C4-0B4C-4554-8A90-EE437F2C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15240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C73037-DA06-4EE4-9032-5288B25D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43150"/>
            <a:ext cx="695325" cy="695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44323D-4135-47B3-9DC4-33F56AD2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5745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Category</a:t>
            </a:r>
          </a:p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Donut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721EC9-7B62-4307-BAC3-B3E843D5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381125"/>
            <a:ext cx="2476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A0BDDC-B739-4B32-8021-35A1EEE2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552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58EAF1-9F3A-41E4-952F-4613D6D9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55257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Monthly totals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021073-0D1F-457A-A29E-37733A6A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895475"/>
            <a:ext cx="2133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income vs expense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3979A0-10D4-456F-961C-49431E76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76500"/>
            <a:ext cx="2476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C738DF-C8FC-41F4-8305-83631E6B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647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81858E-3278-4C70-9C22-A7BFEC24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6479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Spending split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E759C5-6B33-4AE9-B45B-6489B890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990850"/>
            <a:ext cx="2133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committed / discretionary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DF599F-23E0-4CAA-A960-0C85D711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571875"/>
            <a:ext cx="2476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F7CAD7-71A7-410F-9275-CBAF72C4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743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379632-39B0-4ABF-9546-AE62FF99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74332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5-month overview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E17E33-C22B-4719-8277-E39DEE8D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86225"/>
            <a:ext cx="21336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trend bars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120868-31B7-4E9C-8377-F8379C85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Spendly technical demo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66790A-F1F3-49EA-ADAB-2584FDAC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18/24</a:t>
            </a:r>
          </a:p>
        </p:txBody>
      </p:sp>
    </p:spTree>
    <p:extLst>
      <p:ext uri="{BB962C8B-B14F-4D97-AF65-F5344CB8AC3E}">
        <p14:creationId xmlns:p14="http://schemas.microsoft.com/office/powerpoint/2010/main" val="125254208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E4344C-E289-45C4-A4DF-1C5CCC55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6F83C-1F3A-4A24-A84E-31116376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FC0FF-F3A8-4769-BDE8-3B04D84D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762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t>Main Feature Logic to Understand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C8B7C-8D30-44FF-BFC2-414D9BDB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63B98-7EC9-4B79-A3B2-10792EAF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66128-095F-498D-9BC4-2369CCA6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811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Auth flow: Firebase session to app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E2B5B-F09B-45EC-AA6D-BC6BE22E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B376F-B02B-4AFF-AB02-C486643D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Transaction flow: validate to Room to Firestore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D2766-A44C-4AC4-9D85-9B332A09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C796C-2B21-4F2D-92AE-CE921F2C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812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Dashboard sums by dateMillis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5481B5-6B4E-430D-ABF2-31394A80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38A87-1CFF-4D20-9422-3388C8BB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812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Goals use savedCents / targetCents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43814C-F919-4B9E-85A7-566FA4C8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8AA70A-A5EC-47AE-8955-0EDCDA5D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Analytics groups persisted transactions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9E55C-00AB-4B62-B7FD-0300F72A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B3308F-6E24-45EB-B1C7-F2D0A6A5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813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Profile settings sync through profile/main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EEFA66-474E-4950-B4DA-322F77BF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142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359C33-6D0F-4D2C-9F13-678BD4DC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47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FC3F3B-3D74-41D0-9D4E-46154C63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4782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Auth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E5E569-1878-40F8-B210-A18A2A95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90725"/>
            <a:ext cx="1085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session→state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5F5C2C-8BF6-45F3-B7F6-F982B471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76375"/>
            <a:ext cx="142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C6ED5F-F3AA-423D-B86D-E362E143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47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4AD3B5-2BDB-44E0-A95F-3059BEDB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4782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074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Transactions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FC4E01-3525-4BB1-886B-08B90F28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90725"/>
            <a:ext cx="1085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validate→save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2C5363-5F79-443C-9D1A-7979C33B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476375"/>
            <a:ext cx="142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C3D6EC-605D-4723-BBB7-7A01733A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647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E12732-F9C8-4CCA-9901-3697A311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64782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3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Dashboard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263950-2722-435E-9FEB-A724BA27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90725"/>
            <a:ext cx="1085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sum dateMillis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80E89F-82A0-4777-8F45-3ADC6A21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95625"/>
            <a:ext cx="142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EA8FEF-F223-47F6-883A-AD5A88AC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67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05B8AA-171E-41CB-B4C0-4ACE5939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670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Goals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B162CE-9324-41A2-88FE-87C4A8E8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9975"/>
            <a:ext cx="1085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saved/target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E32B1F-94AA-4D2A-A5EE-DE92779D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95625"/>
            <a:ext cx="142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4790E3-B9EF-4EED-8895-89F0F78B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67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6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579552-9C1B-4570-A783-BCA65328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670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127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Analytics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5C5B06-1C43-4064-ACF1-70E63E09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09975"/>
            <a:ext cx="1085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group records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22A71B-EA74-43EB-B26D-5D0E9313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95625"/>
            <a:ext cx="142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8E7099-770C-436A-8FCA-8C97D528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67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4F085C-92E8-46F0-87A9-74AEEE89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670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Profile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80E61D-6CD8-46E3-A1C2-029FF80F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09975"/>
            <a:ext cx="1085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profile/main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868FC0-3742-462B-98F8-2F233223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Spendly technical demo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E6C72B-2590-4009-8B74-93D2C599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19/24</a:t>
            </a:r>
          </a:p>
        </p:txBody>
      </p:sp>
    </p:spTree>
    <p:extLst>
      <p:ext uri="{BB962C8B-B14F-4D97-AF65-F5344CB8AC3E}">
        <p14:creationId xmlns:p14="http://schemas.microsoft.com/office/powerpoint/2010/main" val="122941655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5A690A-755F-43DE-BB8B-963F3944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A74CB-3786-403B-83AD-5B8AAF56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464F8-9B51-466D-8038-F0C0DDC1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762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t>UI/UX Design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6F41C-571D-4411-8AE5-98083621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9BBD3-8663-4F02-9A55-21D71BAA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53553-7133-41F8-AF64-268EF582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811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Material 3 Compose 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F820D-39EB-4BDC-9E54-1A9D6F40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57DE7-2734-4903-BBCE-5B809666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Green/teal fintech theme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52890-DC9A-410C-B43C-89CCBC52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A4E46-7F52-4CEC-A8AE-1007FA18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812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Shared bottom navigation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B0E458-73DC-44ED-909A-6EA4FA39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442C71-0143-4611-B617-D1F24BD2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812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Shared floating plus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897B6-7FA6-4FB6-B439-D74D4316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F0E5A-3D64-49BA-B72E-9E27CA0C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Shared month picker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C06B6D-CC69-473B-9BB8-B2E6956B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C03C9C-7821-4B47-968C-8840D623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813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Dashboard-first information design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370EC2-2F75-4359-8EA8-6DAE347E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A1F01C-5402-4B96-B956-BD8BB5A7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814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Dark/light/system appearance support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A77218-9C58-4E2C-9515-B69EF695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90625"/>
            <a:ext cx="1952625" cy="36385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C1216"/>
          </a:solidFill>
          <a:ln xmlns:a="http://schemas.openxmlformats.org/drawingml/2006/main" w="19050">
            <a:solidFill>
              <a:srgbClr val="0C121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70EDAE-4E05-434D-8AB5-FC89EABE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304925"/>
            <a:ext cx="1724025" cy="3409950"/>
          </a:xfrm>
          <a:prstGeom xmlns:a="http://schemas.openxmlformats.org/drawingml/2006/main" prst="roundRect">
            <a:avLst>
              <a:gd name="adj" fmla="val 4420"/>
            </a:avLst>
          </a:prstGeom>
          <a:solidFill xmlns:a="http://schemas.openxmlformats.org/drawingml/2006/main">
            <a:srgbClr val="F7F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3571CF-6786-4E34-8929-D1AD1CB1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62075"/>
            <a:ext cx="61912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C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8BA72C-BCFA-4A5F-BA57-AE618F6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590675"/>
            <a:ext cx="17240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2A7EF1-7972-4316-9A05-E7EB4CA5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7430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Good morning,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C0F23C-859C-4481-AF0D-469CEA11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3357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Kavindu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0249DB-D0F4-4CFC-AAF1-C885A52A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33625"/>
            <a:ext cx="13049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FF7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143F80-A851-4C61-AACB-83D462EC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09825"/>
            <a:ext cx="6572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6314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Total Balance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CAB249-5958-4648-9F18-4F063B42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00325"/>
            <a:ext cx="6572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145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LKR 127,213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8C2465-7FA0-45CE-B03F-79CE8E76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57525"/>
            <a:ext cx="61912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52B8FB-4597-4C3B-8DC5-3C456CAC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57525"/>
            <a:ext cx="61912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C37641-1E17-42BE-8571-88B77177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43250"/>
            <a:ext cx="83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Income</a:t>
            </a:r>
          </a:p>
          <a:p xmlns:a="http://schemas.openxmlformats.org/drawingml/2006/main">
            <a:pPr algn="l">
              <a:defRPr sz="90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215,413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5B45FB-B8FA-48A5-97D8-C1991FEA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43250"/>
            <a:ext cx="83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4D5B"/>
                </a:solidFill>
                <a:latin typeface="Aptos"/>
                <a:ea typeface="Aptos"/>
                <a:cs typeface="Aptos"/>
              </a:defRPr>
            </a:pPr>
            <a:r>
              <a:t>Expense</a:t>
            </a:r>
          </a:p>
          <a:p xmlns:a="http://schemas.openxmlformats.org/drawingml/2006/main">
            <a:pPr algn="l">
              <a:defRPr sz="900" b="1">
                <a:solidFill>
                  <a:srgbClr val="E84D5B"/>
                </a:solidFill>
                <a:latin typeface="Aptos"/>
                <a:ea typeface="Aptos"/>
                <a:cs typeface="Aptos"/>
              </a:defRPr>
            </a:pPr>
            <a:r>
              <a:t>88,200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081501-F795-4C98-818C-E5C1421D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62375"/>
            <a:ext cx="1381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5C9C04-DD9D-479A-86B2-6123BFED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1477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MacBook Pro M4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46A4E6-C309-4D09-9C93-20607F4B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38625"/>
            <a:ext cx="9620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7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52A8E5-F630-4481-ACB3-29A67CE3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38625"/>
            <a:ext cx="895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7B8EBA-4931-4717-96F9-471CC1D7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971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851161-8A40-4F0B-A963-1065D686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90975"/>
            <a:ext cx="400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FAB885-9DA6-4236-85FC-8E373F82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3350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8E74E8-E0DA-4A03-891A-437DB954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04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D4F551-83F9-4774-B324-30FF24C7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04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Design system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46BD2D-2530-4D69-9D1D-03CC5124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47850"/>
            <a:ext cx="1752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Material 3 + tokens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C5F3CA-A3B1-4872-9511-3366F87E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551B03-79EF-4B7F-90B4-C6D2949D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5F3EB0-3636-4576-BB41-B9213528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527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Navigation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491DD9-DC0F-41A5-8AC0-C231696B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95600"/>
            <a:ext cx="1752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bottom tabs + shared FAB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184488-FA4A-46FA-AF24-D27BF5F3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2900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E37EE6-5716-4529-BF2C-456B6A58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00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850381C-E866-4571-9AE7-93FAC5D8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00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Theme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7AA363-CF97-4C29-AF91-5E5629EC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43350"/>
            <a:ext cx="1752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33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System / Light / Dark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5CFB5B-0944-44CE-A694-D6F3766A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Spendly technical demo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DCD4B3-DF37-44E9-AB2D-69D85553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20/24</a:t>
            </a:r>
          </a:p>
        </p:txBody>
      </p:sp>
    </p:spTree>
    <p:extLst>
      <p:ext uri="{BB962C8B-B14F-4D97-AF65-F5344CB8AC3E}">
        <p14:creationId xmlns:p14="http://schemas.microsoft.com/office/powerpoint/2010/main" val="64514183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013AE9-124F-4954-843C-DD1CF505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4DCB0-3326-4327-AB82-6EA80F85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69C78-166E-446D-A1E6-E955D181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762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t>Live Demo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6C59A-DF8D-46FA-AD4E-6B6BCB95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30284-6A0E-4CF2-A5F6-250503EC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DF52E-236D-4AEF-B3BC-28AF067A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811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0-1 intro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26C93-E69D-41B5-B454-3517ED8F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7D5C7-2EFF-456A-9953-A2319914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430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1-3 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A7069-0233-408A-8666-974DB88B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84C5F-9F8B-4A15-8D50-9FFFA610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050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3-5 login/register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3C3246-801A-4B69-935F-DC5AD531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20929-47C3-4715-9DD5-F98E9179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669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5-7 dashboard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7BB631-4925-4FF0-BD74-681924B7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4E2154-02D8-4783-B208-9A690259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289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7-9 transactions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AA244B-F598-4ED6-9431-7D46C93C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A0E66F-DF01-4353-A9B5-49B1AD16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908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9-11 goals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AEFDEB-312B-461D-BA7F-3CF00A03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CFB1F2-E047-4CEA-9F79-B924FB35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528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11-13 analytics/profile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18D376-AB85-4E9A-B38A-B608A386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1F3B72-839F-4AF0-B31F-52863C13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147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13-15 database/sync Q&amp;A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239F76-1F55-4B47-928A-1FDBCFC8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4A374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Intro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CD3F7F-F0A7-4852-B3D8-24EEB7CC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619250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Architecture</a:t>
            </a:r>
          </a:p>
        </p:txBody>
      </p:sp>
      <p:cxnSp>
        <p:nvCxnSpPr>
          <p:cNvPr id="23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353300" y="1971675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591901-F2FF-44EC-9C47-DC742523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Auth</a:t>
            </a:r>
          </a:p>
        </p:txBody>
      </p:sp>
      <p:cxnSp>
        <p:nvCxnSpPr>
          <p:cNvPr id="25" name=""/>
          <p:cNvCxnSpPr>
            <a:stCxn xmlns:a="http://schemas.openxmlformats.org/drawingml/2006/main" id="22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639175" y="1971675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3AF1CE-6061-4F21-AA0F-58B689E1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619250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Dashboard</a:t>
            </a:r>
          </a:p>
        </p:txBody>
      </p:sp>
      <p:cxnSp>
        <p:nvCxnSpPr>
          <p:cNvPr id="27" name=""/>
          <p:cNvCxnSpPr>
            <a:stCxn xmlns:a="http://schemas.openxmlformats.org/drawingml/2006/main" id="24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9925050" y="1971675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7D1B24-F6C8-4F3E-AB11-13E9060F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Transactions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B8FAF0-A86D-4373-96CC-06A5AAEF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38500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Goals</a:t>
            </a:r>
          </a:p>
        </p:txBody>
      </p:sp>
      <p:cxnSp>
        <p:nvCxnSpPr>
          <p:cNvPr id="30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7353300" y="3590925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694E48-D183-41D9-A8D6-6F2E5917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Analytics</a:t>
            </a:r>
          </a:p>
        </p:txBody>
      </p:sp>
      <p:cxnSp>
        <p:nvCxnSpPr>
          <p:cNvPr id="32" name=""/>
          <p:cNvCxnSpPr>
            <a:stCxn xmlns:a="http://schemas.openxmlformats.org/drawingml/2006/main" id="29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8639175" y="3590925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337202-6C48-41E5-B9D8-F4761A3F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238500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Q&amp;A</a:t>
            </a:r>
          </a:p>
        </p:txBody>
      </p:sp>
      <p:cxnSp>
        <p:nvCxnSpPr>
          <p:cNvPr id="34" name=""/>
          <p:cNvCxnSpPr>
            <a:stCxn xmlns:a="http://schemas.openxmlformats.org/drawingml/2006/main" id="31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9925050" y="3590925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A374"/>
            </a:solidFill>
            <a:prstDash val="solid"/>
            <a:headEnd type="arrow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56B1CB-0AD4-41E9-BF0B-44B6C352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Spendly technical demo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35AB7F-4FD3-4B0F-A8B3-4D8F879A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21/24</a:t>
            </a:r>
          </a:p>
        </p:txBody>
      </p:sp>
    </p:spTree>
    <p:extLst>
      <p:ext uri="{BB962C8B-B14F-4D97-AF65-F5344CB8AC3E}">
        <p14:creationId xmlns:p14="http://schemas.microsoft.com/office/powerpoint/2010/main" val="61385845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D69C58-4AB3-4BFE-B2C0-E8B81A4C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ED627-91AF-4415-A997-7324FF2E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CEA26-3839-4A66-B1D5-DE9FD8F8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762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t>Engineering Decisions &amp; Justifications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F6762-A287-449E-B966-7002E4B3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5DE8E-D751-4482-89F9-589199E8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72D47-E5C3-4665-BB4F-64AB3EF1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811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MVVM: separation of UI and business logic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2A0F9-469C-4823-ACE0-AB475744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1325F-15FD-4CA1-82A0-AEC7381E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Room + Firestore: offline cache plus cloud sync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CEB96-8BD8-44DA-BA04-91C4E6B7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C4B90-4FE8-4552-A174-4C19476C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812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UID-based paths: user data isolation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E2C2F4-27BB-414D-8DA8-C041DB98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FAC64-B550-4356-BA91-494BCC10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812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Money as cents: data accuracy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7889E-3DEF-4BFE-AE22-E7798609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E30657-BD68-4967-B8B5-C1767D75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WorkManager: reliable sync retry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44C15A-9FB4-44D6-B6EB-3B4F7567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9EEFA1-60F2-454B-B049-AF64E99B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813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Hilt: dependency wiring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2A0153-D771-422A-AC75-C637987A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190625"/>
            <a:ext cx="25241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8DDB39-AB5A-4FC9-84C5-AB74A726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62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11B1F9-443F-4BAC-ABA4-749252A7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362075"/>
            <a:ext cx="1762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MVVM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742ED6-402E-40AA-A9B5-1CD9A77F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04975"/>
            <a:ext cx="21812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separate UI and logic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E56A1C-3B67-4274-BA32-52C3CB1C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90625"/>
            <a:ext cx="25241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CE4479-B725-4D88-B871-E0595520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362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B20F24-7B10-4516-AD08-AE986BB9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362075"/>
            <a:ext cx="1762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Room + Firestore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D9A6CD-9E81-4FF6-8212-7DBB5688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04975"/>
            <a:ext cx="21812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offline and cloud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876157-B21C-41B2-88CD-74F7CED0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14575"/>
            <a:ext cx="25241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8EA9EB-FBCD-4D31-BCF1-5E2D6D1A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86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B50948-843E-43BE-820C-04444B63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86025"/>
            <a:ext cx="1762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UID paths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0D67E4-F4BF-45E4-A18E-35266B34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28925"/>
            <a:ext cx="21812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user isolation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145FE8-C449-4F21-BABF-57452326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14575"/>
            <a:ext cx="25241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8D8AB8-3851-486C-B1A6-FA883539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86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61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E068FF-2D6D-4DD8-AE9D-F5205D9A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86025"/>
            <a:ext cx="1762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Cents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9E8FF2-FB29-492C-8D4A-881C4EE8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28925"/>
            <a:ext cx="21812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money precision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C0ED60-3415-45C0-8D91-E02C69C2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38525"/>
            <a:ext cx="25241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2D3E58-210C-498E-BAEE-934FC7AB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099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6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3AFD95-C7B8-4083-BF16-3145C700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09975"/>
            <a:ext cx="1762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WorkManager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19606B-8EF1-4471-B69E-BC0D362A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52875"/>
            <a:ext cx="21812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reliable retry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44ADAE-BAA3-4BB8-A7C4-AAF83F38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38525"/>
            <a:ext cx="25241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189C3A-C03A-4542-9543-9D8E5B79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099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5896B9-BE95-4E15-9249-0B6F74A3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09975"/>
            <a:ext cx="1762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Hilt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5BBCB7-AA9D-4C16-BA8D-820108CE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52875"/>
            <a:ext cx="21812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dependency wiring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0DAA07-C23C-40F0-B2B1-D428ED57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Spendly technical demo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021897-C3E1-403C-BACB-CCC1F04A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22/24</a:t>
            </a:r>
          </a:p>
        </p:txBody>
      </p:sp>
    </p:spTree>
    <p:extLst>
      <p:ext uri="{BB962C8B-B14F-4D97-AF65-F5344CB8AC3E}">
        <p14:creationId xmlns:p14="http://schemas.microsoft.com/office/powerpoint/2010/main" val="77129174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78B607-5013-423A-8A7F-93FCAE4C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26885-6173-4D43-81E2-DDE5EBE6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E7A91-548F-4747-AFB7-8D4B51DD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762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t>Limitations &amp; Future Improvements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87FBF-4D98-4E0F-8D69-2F613D53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A4AB2-FA21-4C81-A6CE-8FBFD148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EA3B4-EB92-4584-A601-7DD28DAD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811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Current: Firestore rules need schema update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498F1-D0B6-4C9C-AD9F-A5733BE5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BEFD8-B186-4773-8C54-6EB5447D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Current: profile image is local URI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EBF821-3E8D-43D2-9010-6B958BC0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24D2C-26E4-44C3-808A-FE143726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812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Current: offline delete conflict handling can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AA58B-F7F2-4FA5-8F0C-1C6BCBD2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C57D07-9DA9-4599-B5C9-A4CD1F99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812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51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Current: dedicated budgets/accounts not implemented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5E28C6-B769-4B42-8A96-E8DE0EA8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A15F9F-D3F1-4F70-8091-0C16A635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670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Future: alerts, exports, notifications, advanced analytics, stronger sync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52F546-C7BC-4254-BAC3-27DE3C20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2428875" cy="285750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973266-DAB0-4943-9DE3-F40E818A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95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4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Now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353660-3F2B-4CFC-970B-EC1E3002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95450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Current limits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36DB49-4384-4ED2-9C8B-F900BECF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38350"/>
            <a:ext cx="20859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Firestore rules need update</a:t>
            </a:r>
          </a:p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Local image URI only</a:t>
            </a:r>
          </a:p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Offline delete conflict handling</a:t>
            </a:r>
          </a:p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No dedicated budgets/accounts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A8EFB9-9CCA-48E6-B049-594D2F48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24000"/>
            <a:ext cx="2428875" cy="285750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7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99345B-5FFF-41A3-874C-AB14BDB4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95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Next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9E0B6B-6CD4-4573-86AA-C06D66BC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95450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Future work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BAC249-D4F5-4BF6-838E-A8AC55BF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38350"/>
            <a:ext cx="20859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Budget alerts</a:t>
            </a:r>
          </a:p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PDF / CSV export</a:t>
            </a:r>
          </a:p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Notifications</a:t>
            </a:r>
          </a:p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Advanced analytics</a:t>
            </a:r>
          </a:p>
          <a:p xmlns:a="http://schemas.openxmlformats.org/drawingml/2006/main">
            <a:pPr algn="l">
              <a:defRPr sz="1125" b="0">
                <a:solidFill>
                  <a:srgbClr val="64727B"/>
                </a:solidFill>
                <a:latin typeface="Aptos"/>
                <a:ea typeface="Aptos"/>
                <a:cs typeface="Aptos"/>
              </a:defRPr>
            </a:pPr>
            <a:r>
              <a:t>Stronger sync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ABA416-F6B3-412A-8B45-9BCD438D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Spendly technical demo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BBB0CE-0E63-4696-8495-AC31904F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23/24</a:t>
            </a:r>
          </a:p>
        </p:txBody>
      </p:sp>
    </p:spTree>
    <p:extLst>
      <p:ext uri="{BB962C8B-B14F-4D97-AF65-F5344CB8AC3E}">
        <p14:creationId xmlns:p14="http://schemas.microsoft.com/office/powerpoint/2010/main" val="159895671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118D98-7EF9-4B58-85B1-EB5E8B63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CA566-808D-44F5-A007-19003C89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4A374"/>
                </a:solidFill>
                <a:latin typeface="Aptos"/>
                <a:ea typeface="Aptos"/>
                <a:cs typeface="Aptos"/>
              </a:defRPr>
            </a:pPr>
            <a: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D5B49-861B-4AFA-A5A8-8FD05E66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"/>
            <a:ext cx="762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  <a:latin typeface="Aptos"/>
                <a:ea typeface="Aptos"/>
                <a:cs typeface="Aptos"/>
              </a:defRPr>
            </a:pPr>
            <a:r>
              <a:t>Conclusion / Q&amp;A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4BA1F-0CF5-4A66-989A-16943155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3D8C3-21B3-4862-908C-21D032DC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01878-0281-4B1B-B62E-0586821A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811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523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Spendly connects daily tracking with financial awareness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55341-8165-459C-A7A4-F0DBA83F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E86DB-8824-4804-802E-8199D21C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Local-first architecture improves reliability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1FB59-19EA-42D8-A105-5D74241D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6184F-DF0B-45DB-B768-EF470F96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812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MVVM keeps the code explainable and maintainable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E863A-DFBD-4DF6-9761-E1975C7E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8F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7AF74-1AA9-4612-A9AD-CEFC8095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8127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610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Room + Firestore supports offline and cross-device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8B96D8-FEFA-4068-A99C-F12988C0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B8E68A-830C-4B6D-9B17-0916E1AC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Ready for live demo and engineering questions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25FFA-44D6-473E-89E8-63CC3A24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A3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2A09EF-7CB6-466A-BF83-F4AD8FD5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1428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Q&amp;A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24E6E8-3EA0-4F89-BF1B-F4609800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Architecture • Data • Sync •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EFBCCF-EC05-48AE-8E89-784B83D1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Spendly technical demo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BED2DB-2BE7-4F28-B2A7-B5F28940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90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B8A91"/>
                </a:solidFill>
                <a:latin typeface="Aptos"/>
                <a:ea typeface="Aptos"/>
                <a:cs typeface="Aptos"/>
              </a:defRPr>
            </a:pPr>
            <a:r>
              <a:t>24/24</a:t>
            </a:r>
          </a:p>
        </p:txBody>
      </p:sp>
    </p:spTree>
    <p:extLst>
      <p:ext uri="{BB962C8B-B14F-4D97-AF65-F5344CB8AC3E}">
        <p14:creationId xmlns:p14="http://schemas.microsoft.com/office/powerpoint/2010/main" val="7415461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2026-06-05T17:22:32.8390000Z</dcterms:created>
  <dcterms:modified xsi:type="dcterms:W3CDTF">2026-06-05T17:22:32.8390000Z</dcterms:modified>
</coreProperties>
</file>